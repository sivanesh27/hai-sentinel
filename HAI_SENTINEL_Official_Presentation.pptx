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6707967" cy="2128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rPr dirty="0"/>
              <a:t>HAI-SENTINEL</a:t>
            </a:r>
          </a:p>
          <a:p>
            <a:pPr>
              <a:spcAft>
                <a:spcPts val="1400"/>
              </a:spcAft>
              <a:defRPr sz="1700" b="1">
                <a:solidFill>
                  <a:srgbClr val="38BDF8"/>
                </a:solidFill>
              </a:defRPr>
            </a:pPr>
            <a:r>
              <a:rPr dirty="0"/>
              <a:t>Explainable AI Early-Warning &amp; Prevention Intelligence for Hospital-Acquired Infections</a:t>
            </a:r>
          </a:p>
          <a:p>
            <a:pPr>
              <a:defRPr sz="1150">
                <a:solidFill>
                  <a:srgbClr val="E2E8F0"/>
                </a:solidFill>
              </a:defRPr>
            </a:pPr>
            <a:r>
              <a:rPr sz="1200" dirty="0"/>
              <a:t>A clinically grounded, leakage-resistant decision-support platform that transforms continuous ICU telemetry into calibrated risk trajectories, discrete derivative calculus, </a:t>
            </a:r>
            <a:r>
              <a:rPr sz="1200" dirty="0" err="1"/>
              <a:t>TreeSHAP</a:t>
            </a:r>
            <a:r>
              <a:rPr sz="1200" dirty="0"/>
              <a:t> local attributions, and unit-level spatial cluster radar.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1069848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235640"/>
            <a:ext cx="10424159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PROBLEM </a:t>
            </a:r>
            <a:r>
              <a:rPr sz="1200" dirty="0"/>
              <a:t>TRACK: Omni_BioTech_9 (Predicting Hospital-Acquired </a:t>
            </a:r>
            <a:r>
              <a:rPr sz="1200" dirty="0" smtClean="0"/>
              <a:t>Infections)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SYSTEM </a:t>
            </a:r>
            <a:r>
              <a:rPr sz="1200" dirty="0"/>
              <a:t>TYPE: Clinical Decision Support &amp; Risk Trajectory Engine  |  DEPLOYMENT: 100% Offline / Air-Gapped </a:t>
            </a:r>
            <a:r>
              <a:rPr sz="1200" dirty="0" smtClean="0"/>
              <a:t>Ready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CORE </a:t>
            </a:r>
            <a:r>
              <a:rPr sz="1200" dirty="0"/>
              <a:t>PARADIGM: PREDICT -&gt; EXPLAIN -&gt; TRACK -&gt; PRIORITIZE -&gt; </a:t>
            </a:r>
            <a:r>
              <a:rPr sz="1200" dirty="0" smtClean="0"/>
              <a:t>PREVENT</a:t>
            </a:r>
            <a:endParaRPr sz="1200" dirty="0"/>
          </a:p>
        </p:txBody>
      </p:sp>
      <p:pic>
        <p:nvPicPr>
          <p:cNvPr id="7" name="Picture 6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6021" y="741563"/>
            <a:ext cx="4480560" cy="2834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/>
          <p:cNvSpPr txBox="1"/>
          <p:nvPr/>
        </p:nvSpPr>
        <p:spPr>
          <a:xfrm>
            <a:off x="7120301" y="3488424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rPr dirty="0"/>
              <a:t>LIVE INTELLIGENCE COMMAND CENTER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463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HAI-SENTINEL | Explainable AI Prevention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57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</a:defRPr>
            </a:pPr>
            <a:r>
              <a:t>PREDICT -&gt; EXPLAIN -&gt; TRACK -&gt; PRIORITIZE -&gt; PREVENT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 smtClean="0"/>
              <a:t>Hospitals </a:t>
            </a:r>
            <a:r>
              <a:rPr dirty="0"/>
              <a:t>often detect infection after deterioration has already begun</a:t>
            </a:r>
            <a:r>
              <a:rPr dirty="0" smtClean="0"/>
              <a:t>.</a:t>
            </a:r>
            <a:endParaRPr dirty="0"/>
          </a:p>
          <a:p>
            <a:pPr>
              <a:defRPr sz="1100">
                <a:solidFill>
                  <a:srgbClr val="38BDF8"/>
                </a:solidFill>
              </a:defRPr>
            </a:pPr>
            <a:r>
              <a:rPr sz="1200" dirty="0"/>
              <a:t>The Clinical Burden &amp; Critical Diagnostic Delay in Intensive Care Units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29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87477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rPr dirty="0"/>
              <a:t>OMNI_BIOTECH_9 • HOSPITAL-ACQUIRED INFECTIONS  | </a:t>
            </a:r>
            <a:r>
              <a:rPr dirty="0" smtClean="0"/>
              <a:t>100</a:t>
            </a:r>
            <a:r>
              <a:rPr dirty="0"/>
              <a:t>% AIR-GAPPED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347472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66161"/>
            <a:ext cx="320040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defRPr sz="1150" b="1">
                <a:solidFill>
                  <a:srgbClr val="F43F5E"/>
                </a:solidFill>
              </a:defRPr>
            </a:pPr>
            <a:r>
              <a:rPr sz="1600" dirty="0"/>
              <a:t>The ICU Nosocomial Burden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Nearly </a:t>
            </a:r>
            <a:r>
              <a:rPr sz="1200" dirty="0"/>
              <a:t>30% of ICU patients experience at least one hospital-acquired infection (Vincent et al., EPIC II</a:t>
            </a:r>
            <a:r>
              <a:rPr sz="1200" dirty="0" smtClean="0"/>
              <a:t>).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Common </a:t>
            </a:r>
            <a:r>
              <a:rPr sz="1200" dirty="0"/>
              <a:t>drivers: Central Line-Associated Bloodstream Infections (CLABSI), Catheter-Associated Urinary Tract Infections (CAUTI), and Ventilator-Associated Events (VAE</a:t>
            </a:r>
            <a:r>
              <a:rPr sz="1200" dirty="0" smtClean="0"/>
              <a:t>).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High </a:t>
            </a:r>
            <a:r>
              <a:rPr sz="1200" dirty="0"/>
              <a:t>morbidity and extended ICU length of stay.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47472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666161"/>
            <a:ext cx="32004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F59E0B"/>
                </a:solidFill>
              </a:defRPr>
            </a:pPr>
            <a:r>
              <a:rPr sz="1600" dirty="0"/>
              <a:t>The Diagnostic Window Void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Microbiological </a:t>
            </a:r>
            <a:r>
              <a:rPr sz="1200" dirty="0"/>
              <a:t>blood cultures require 24 to 72 hours for laboratory </a:t>
            </a:r>
            <a:r>
              <a:rPr sz="1200" dirty="0" smtClean="0"/>
              <a:t>confirmation.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Clinical </a:t>
            </a:r>
            <a:r>
              <a:rPr sz="1200" dirty="0"/>
              <a:t>suspicion often arises only after overt pyrexia, hypotension, and leukocytosis </a:t>
            </a:r>
            <a:r>
              <a:rPr sz="1200" dirty="0" smtClean="0"/>
              <a:t>manifest.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By </a:t>
            </a:r>
            <a:r>
              <a:rPr sz="1200" dirty="0"/>
              <a:t>confirmation time, bacterial proliferation has frequently progressed to septic shock.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47472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667581"/>
            <a:ext cx="320040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38BDF8"/>
                </a:solidFill>
              </a:defRPr>
            </a:pPr>
            <a:r>
              <a:rPr sz="1600" dirty="0"/>
              <a:t>Septic Shock &amp; Mortality Risk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Uncontrolled </a:t>
            </a:r>
            <a:r>
              <a:rPr sz="1200" dirty="0"/>
              <a:t>bacteremia cascades into septic shock and Multi-Organ Dysfunction Syndrome (MODS</a:t>
            </a:r>
            <a:r>
              <a:rPr sz="1200" dirty="0" smtClean="0"/>
              <a:t>).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Every </a:t>
            </a:r>
            <a:r>
              <a:rPr sz="1200" dirty="0"/>
              <a:t>hour of delayed antimicrobial therapy during septic shock escalates mortality by ~7.6</a:t>
            </a:r>
            <a:r>
              <a:rPr sz="1200" dirty="0" smtClean="0"/>
              <a:t>%.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Early </a:t>
            </a:r>
            <a:r>
              <a:rPr sz="1200" dirty="0"/>
              <a:t>trajectory intelligence enables targeted bedside intervention before irreversible shock.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03520"/>
            <a:ext cx="1127729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5413248"/>
            <a:ext cx="110029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200" b="1" dirty="0"/>
              <a:t>CLINICAL IMPERATIVE: </a:t>
            </a:r>
            <a:r>
              <a:rPr sz="1200" dirty="0"/>
              <a:t>THE WINDOW FOR PREVENTION CAN OPEN BEFORE CONFIRMATION. Continuous physiological trajectory monitoring allows Infection Prevention &amp; Control (IPC) teams to audit line hygiene and assess catheter readiness before systemic crisis.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463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HAI-SENTINEL | Explainable AI Prevention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57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</a:defRPr>
            </a:pPr>
            <a:r>
              <a:t>PREDICT -&gt; EXPLAIN -&gt; TRACK -&gt; PRIORITIZE -&gt; PREVENT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 smtClean="0"/>
              <a:t>Static </a:t>
            </a:r>
            <a:r>
              <a:rPr dirty="0"/>
              <a:t>risk scores see snapshots. HAI-Sentinel sees trajectories</a:t>
            </a:r>
            <a:r>
              <a:rPr dirty="0" smtClean="0"/>
              <a:t>.</a:t>
            </a:r>
            <a:endParaRPr dirty="0"/>
          </a:p>
          <a:p>
            <a:pPr>
              <a:defRPr sz="1100">
                <a:solidFill>
                  <a:srgbClr val="38BDF8"/>
                </a:solidFill>
              </a:defRPr>
            </a:pPr>
            <a:r>
              <a:rPr sz="1200" dirty="0"/>
              <a:t>Four Critical Failure Modes in Current Hospital Surveillance &amp; Machine Learning Paradigms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29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87477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rPr dirty="0"/>
              <a:t>OMNI_BIOTECH_9 • HOSPITAL-ACQUIRED INFECTIONS  | </a:t>
            </a:r>
            <a:r>
              <a:rPr dirty="0" smtClean="0"/>
              <a:t>100</a:t>
            </a:r>
            <a:r>
              <a:rPr dirty="0"/>
              <a:t>% AIR-GAPPED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265176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572768"/>
            <a:ext cx="237744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F43F5E"/>
                </a:solidFill>
              </a:defRPr>
            </a:pPr>
            <a:r>
              <a:rPr sz="1600" dirty="0"/>
              <a:t>01 • Static Assessment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APACHE-II</a:t>
            </a:r>
            <a:r>
              <a:rPr sz="1200" dirty="0"/>
              <a:t>, SOFA, and naive ML models evaluate admission </a:t>
            </a:r>
            <a:r>
              <a:rPr sz="1200" dirty="0" smtClean="0"/>
              <a:t>snapshots.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Miss </a:t>
            </a:r>
            <a:r>
              <a:rPr sz="1200" dirty="0"/>
              <a:t>continuous physiological slope and rate of acute </a:t>
            </a:r>
            <a:r>
              <a:rPr sz="1200" dirty="0" smtClean="0"/>
              <a:t>decompensation.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Cannot </a:t>
            </a:r>
            <a:r>
              <a:rPr sz="1200" dirty="0"/>
              <a:t>distinguish pre-existing chronic illness from acute nosocomial deterioration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463040"/>
            <a:ext cx="265176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1572768"/>
            <a:ext cx="237744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F59E0B"/>
                </a:solidFill>
              </a:defRPr>
            </a:pPr>
            <a:r>
              <a:rPr sz="1600" dirty="0"/>
              <a:t>02 • Black-Box Alerts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Opaque </a:t>
            </a:r>
            <a:r>
              <a:rPr sz="1200" dirty="0"/>
              <a:t>risk numbers without local feature </a:t>
            </a:r>
            <a:r>
              <a:rPr sz="1200" dirty="0" smtClean="0"/>
              <a:t>attribution.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Severe </a:t>
            </a:r>
            <a:r>
              <a:rPr sz="1200" dirty="0"/>
              <a:t>clinician alarm fatigue; high alert override rates (&gt;85</a:t>
            </a:r>
            <a:r>
              <a:rPr sz="1200" dirty="0" smtClean="0"/>
              <a:t>%).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Clinicians </a:t>
            </a:r>
            <a:r>
              <a:rPr sz="1200" dirty="0"/>
              <a:t>cannot answer 'WHY is this patient's risk rising?' at bedside.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265176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572768"/>
            <a:ext cx="237744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A855F7"/>
                </a:solidFill>
              </a:defRPr>
            </a:pPr>
            <a:r>
              <a:rPr sz="1600" dirty="0"/>
              <a:t>03 • Poor Calibration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err="1" smtClean="0"/>
              <a:t>Uncalibrated</a:t>
            </a:r>
            <a:r>
              <a:rPr sz="1200" dirty="0" smtClean="0"/>
              <a:t> </a:t>
            </a:r>
            <a:r>
              <a:rPr sz="1200" dirty="0" err="1"/>
              <a:t>sigmoids</a:t>
            </a:r>
            <a:r>
              <a:rPr sz="1200" dirty="0"/>
              <a:t> yield distorted probabilities in low-prevalence (~10-15%) </a:t>
            </a:r>
            <a:r>
              <a:rPr sz="1200" dirty="0" smtClean="0"/>
              <a:t>domains.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Severe </a:t>
            </a:r>
            <a:r>
              <a:rPr sz="1200" dirty="0"/>
              <a:t>Expected Calibration Error (ECE &gt; 0.05</a:t>
            </a:r>
            <a:r>
              <a:rPr sz="1200" dirty="0" smtClean="0"/>
              <a:t>).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Distorts </a:t>
            </a:r>
            <a:r>
              <a:rPr sz="1200" dirty="0"/>
              <a:t>clinical risk triage and false positive burden.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463040"/>
            <a:ext cx="265176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1572768"/>
            <a:ext cx="237744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38BDF8"/>
                </a:solidFill>
              </a:defRPr>
            </a:pPr>
            <a:r>
              <a:rPr sz="1600" dirty="0"/>
              <a:t>04 • No Spatial Radar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Treats </a:t>
            </a:r>
            <a:r>
              <a:rPr sz="1200" dirty="0"/>
              <a:t>each patient in physical </a:t>
            </a:r>
            <a:r>
              <a:rPr sz="1200" dirty="0" smtClean="0"/>
              <a:t>isolation.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Fails </a:t>
            </a:r>
            <a:r>
              <a:rPr sz="1200" dirty="0"/>
              <a:t>to aggregate localized unit risk </a:t>
            </a:r>
            <a:r>
              <a:rPr sz="1200" dirty="0" smtClean="0"/>
              <a:t>density.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Blind </a:t>
            </a:r>
            <a:r>
              <a:rPr sz="1200" dirty="0"/>
              <a:t>to concurrent multi-patient transmission across adjacent physical ICU beds</a:t>
            </a:r>
            <a:r>
              <a:rPr dirty="0"/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03520"/>
            <a:ext cx="1127729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413248"/>
            <a:ext cx="110029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200" b="1" dirty="0"/>
              <a:t>PARADIGM SHIFT: </a:t>
            </a:r>
            <a:r>
              <a:rPr sz="1200" dirty="0"/>
              <a:t>HAI-Sentinel replaces static, isolated black-box scores with continuous longitudinal risk trajectories, </a:t>
            </a:r>
            <a:r>
              <a:rPr sz="1200" dirty="0" err="1"/>
              <a:t>TreeSHAP</a:t>
            </a:r>
            <a:r>
              <a:rPr sz="1200" dirty="0"/>
              <a:t> game-theoretic </a:t>
            </a:r>
            <a:r>
              <a:rPr sz="1200" dirty="0" err="1"/>
              <a:t>explainability</a:t>
            </a:r>
            <a:r>
              <a:rPr sz="1200" dirty="0"/>
              <a:t>, isotonic calibration (ECE 0.0097), and spatial ward cluster radar.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463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HAI-SENTINEL | Explainable AI Prevention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57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</a:defRPr>
            </a:pPr>
            <a:r>
              <a:t>PREDICT -&gt; EXPLAIN -&gt; TRACK -&gt; PRIORITIZE -&gt; PREVENT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 smtClean="0"/>
              <a:t>Prediction </a:t>
            </a:r>
            <a:r>
              <a:rPr dirty="0"/>
              <a:t>begins with the correct epidemiological definition</a:t>
            </a:r>
            <a:r>
              <a:rPr dirty="0" smtClean="0"/>
              <a:t>.</a:t>
            </a:r>
            <a:endParaRPr dirty="0"/>
          </a:p>
          <a:p>
            <a:pPr>
              <a:defRPr sz="1100">
                <a:solidFill>
                  <a:srgbClr val="38BDF8"/>
                </a:solidFill>
              </a:defRPr>
            </a:pPr>
            <a:r>
              <a:rPr sz="1200" dirty="0"/>
              <a:t>CDC/NHSN Protocol Grounding &amp; Prevention of Target Contamination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29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87477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rPr dirty="0"/>
              <a:t>OMNI_BIOTECH_9 • HOSPITAL-ACQUIRED INFECTIONS  |  </a:t>
            </a:r>
            <a:r>
              <a:rPr dirty="0" smtClean="0"/>
              <a:t>100</a:t>
            </a:r>
            <a:r>
              <a:rPr dirty="0"/>
              <a:t>% AIR-GAPPED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539496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87068"/>
            <a:ext cx="512064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38BDF8"/>
                </a:solidFill>
              </a:defRPr>
            </a:pPr>
            <a:r>
              <a:rPr sz="1600" dirty="0"/>
              <a:t>CDC/NHSN Protocol Grounding (2024)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Target </a:t>
            </a:r>
            <a:r>
              <a:rPr sz="1200" dirty="0"/>
              <a:t>definition is strictly anchored to the CDC National Healthcare Safety Network (NHSN) Patient Safety Component </a:t>
            </a:r>
            <a:r>
              <a:rPr sz="1200" dirty="0" smtClean="0"/>
              <a:t>Protocol.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An </a:t>
            </a:r>
            <a:r>
              <a:rPr sz="1200" dirty="0"/>
              <a:t>infection is classified as healthcare-associated IF AND ONLY IF the Infection Window Period (IWP) begins on or after Calendar Day 3 of ICU admission (&gt;= 48 hours</a:t>
            </a:r>
            <a:r>
              <a:rPr sz="1200" dirty="0" smtClean="0"/>
              <a:t>).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Covers </a:t>
            </a:r>
            <a:r>
              <a:rPr sz="1200" dirty="0"/>
              <a:t>validated surveillance targets: CLABSI, CAUTI, VAE, and HAP.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539496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283" y="1687068"/>
            <a:ext cx="512064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0B981"/>
                </a:solidFill>
              </a:defRPr>
            </a:pPr>
            <a:r>
              <a:rPr sz="1600" dirty="0"/>
              <a:t>Strict Isolation of Community-Acquired Infection (CAI)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Infections </a:t>
            </a:r>
            <a:r>
              <a:rPr sz="1200" dirty="0"/>
              <a:t>manifesting on Day 1 or Day 2 are Community-Acquired (CAI</a:t>
            </a:r>
            <a:r>
              <a:rPr sz="1200" dirty="0" smtClean="0"/>
              <a:t>).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Naive </a:t>
            </a:r>
            <a:r>
              <a:rPr sz="1200" dirty="0"/>
              <a:t>classifiers that include Day 1-2 infections learn admission artifacts rather than nosocomial hospital transmission </a:t>
            </a:r>
            <a:r>
              <a:rPr sz="1200" dirty="0" smtClean="0"/>
              <a:t>dynamics.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HAI-Sentinel </a:t>
            </a:r>
            <a:r>
              <a:rPr sz="1200" dirty="0"/>
              <a:t>isolates Day 1-2 CAI cases from the HAI target, guaranteeing valid epidemiological learning without target leakage.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03520"/>
            <a:ext cx="1127729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5413248"/>
            <a:ext cx="110029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200" b="1" dirty="0"/>
              <a:t>METHODOLOGICAL PRINCIPLE: </a:t>
            </a:r>
            <a:r>
              <a:rPr sz="1200" dirty="0"/>
              <a:t>Correct epidemiological label definition is a prerequisite for clinically meaningful prediction. Day 1-2 CAI isolation guarantees that model features reflect true hospital-acquired physiological drift.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463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HAI-SENTINEL | Explainable AI Prevention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57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</a:defRPr>
            </a:pPr>
            <a:r>
              <a:t>PREDICT -&gt; EXPLAIN -&gt; TRACK -&gt; PRIORITIZE -&gt; PREVENT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 smtClean="0"/>
              <a:t>From </a:t>
            </a:r>
            <a:r>
              <a:rPr dirty="0"/>
              <a:t>risk scoring to explainable, temporal infection intelligence</a:t>
            </a:r>
            <a:r>
              <a:rPr dirty="0" smtClean="0"/>
              <a:t>.</a:t>
            </a:r>
            <a:endParaRPr dirty="0"/>
          </a:p>
          <a:p>
            <a:pPr>
              <a:defRPr sz="1100">
                <a:solidFill>
                  <a:srgbClr val="38BDF8"/>
                </a:solidFill>
              </a:defRPr>
            </a:pPr>
            <a:r>
              <a:rPr sz="1200" dirty="0"/>
              <a:t>Critical Review of Foundational Literature, Sepsis Systems &amp; Surveillance Research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29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87477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rPr dirty="0"/>
              <a:t>OMNI_BIOTECH_9 • HOSPITAL-ACQUIRED INFECTIONS  |  </a:t>
            </a:r>
            <a:r>
              <a:rPr dirty="0" smtClean="0"/>
              <a:t>100</a:t>
            </a:r>
            <a:r>
              <a:rPr dirty="0"/>
              <a:t>% AIR-GAPPED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539496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43792"/>
            <a:ext cx="512064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38BDF8"/>
                </a:solidFill>
              </a:defRPr>
            </a:pPr>
            <a:r>
              <a:rPr sz="1600" dirty="0"/>
              <a:t>Foundational Epidemiological &amp; ML Literature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arenR"/>
              <a:defRPr sz="950">
                <a:solidFill>
                  <a:srgbClr val="E2E8F0"/>
                </a:solidFill>
              </a:defRPr>
            </a:pPr>
            <a:r>
              <a:rPr sz="1200" b="1" dirty="0" smtClean="0"/>
              <a:t>CDC </a:t>
            </a:r>
            <a:r>
              <a:rPr sz="1200" b="1" dirty="0"/>
              <a:t>NHSN (2024): </a:t>
            </a:r>
            <a:r>
              <a:rPr sz="1200" dirty="0"/>
              <a:t>Gold-standard HAI surveillance manual. Purely retrospective audit; lacks prospective AI early-warning </a:t>
            </a:r>
            <a:r>
              <a:rPr sz="1200" dirty="0" smtClean="0"/>
              <a:t>capability.</a:t>
            </a:r>
            <a:endParaRPr lang="en-IN" sz="1200" dirty="0" smtClean="0"/>
          </a:p>
          <a:p>
            <a:pPr marL="228600" indent="-228600">
              <a:spcAft>
                <a:spcPts val="300"/>
              </a:spcAft>
              <a:buFont typeface="+mj-lt"/>
              <a:buAutoNum type="arabicParenR"/>
              <a:defRPr sz="950">
                <a:solidFill>
                  <a:srgbClr val="E2E8F0"/>
                </a:solidFill>
              </a:defRPr>
            </a:pPr>
            <a:r>
              <a:rPr sz="1200" b="1" dirty="0" smtClean="0"/>
              <a:t>Vincent </a:t>
            </a:r>
            <a:r>
              <a:rPr sz="1200" b="1" dirty="0"/>
              <a:t>et al. (EPIC II, JAMA 2009): </a:t>
            </a:r>
            <a:r>
              <a:rPr sz="1200" dirty="0"/>
              <a:t>30% nosocomial ICU infection prevalence. Static point-prevalence study; no real-time telemetry </a:t>
            </a:r>
            <a:r>
              <a:rPr sz="1200" dirty="0" smtClean="0"/>
              <a:t>scoring.</a:t>
            </a:r>
            <a:endParaRPr lang="en-IN" sz="1200" dirty="0" smtClean="0"/>
          </a:p>
          <a:p>
            <a:pPr marL="228600" indent="-228600">
              <a:spcAft>
                <a:spcPts val="300"/>
              </a:spcAft>
              <a:buFont typeface="+mj-lt"/>
              <a:buAutoNum type="arabicParenR"/>
              <a:defRPr sz="950">
                <a:solidFill>
                  <a:srgbClr val="E2E8F0"/>
                </a:solidFill>
              </a:defRPr>
            </a:pPr>
            <a:r>
              <a:rPr sz="1200" b="1" dirty="0" smtClean="0"/>
              <a:t>Lundberg </a:t>
            </a:r>
            <a:r>
              <a:rPr sz="1200" b="1" dirty="0"/>
              <a:t>et al. (Nature MI 2020): </a:t>
            </a:r>
            <a:r>
              <a:rPr sz="1200" dirty="0" err="1"/>
              <a:t>TreeSHAP</a:t>
            </a:r>
            <a:r>
              <a:rPr sz="1200" dirty="0"/>
              <a:t> game-theoretic </a:t>
            </a:r>
            <a:r>
              <a:rPr sz="1200" dirty="0" err="1"/>
              <a:t>explainability</a:t>
            </a:r>
            <a:r>
              <a:rPr sz="1200" dirty="0"/>
              <a:t>. Generic ML method; requires clinical domain structuring (Devices, Vitals, Labs).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539496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652670"/>
            <a:ext cx="512064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0B981"/>
                </a:solidFill>
              </a:defRPr>
            </a:pPr>
            <a:r>
              <a:rPr sz="1600" dirty="0"/>
              <a:t>Sepsis Systems &amp; Calibration Research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arenR" startAt="4"/>
              <a:defRPr sz="950">
                <a:solidFill>
                  <a:srgbClr val="E2E8F0"/>
                </a:solidFill>
              </a:defRPr>
            </a:pPr>
            <a:r>
              <a:rPr sz="1200" b="1" dirty="0" err="1" smtClean="0"/>
              <a:t>Niculescu-Mizil</a:t>
            </a:r>
            <a:r>
              <a:rPr sz="1200" b="1" dirty="0" smtClean="0"/>
              <a:t> </a:t>
            </a:r>
            <a:r>
              <a:rPr sz="1200" b="1" dirty="0"/>
              <a:t>&amp; </a:t>
            </a:r>
            <a:r>
              <a:rPr sz="1200" b="1" dirty="0" err="1"/>
              <a:t>Caruana</a:t>
            </a:r>
            <a:r>
              <a:rPr sz="1200" b="1" dirty="0"/>
              <a:t> (ICML 2005): </a:t>
            </a:r>
            <a:r>
              <a:rPr sz="1200" dirty="0"/>
              <a:t>Isotonic probability calibration. Non-parametric calibration rarely implemented in real-time ICU </a:t>
            </a:r>
            <a:r>
              <a:rPr sz="1200" dirty="0" smtClean="0"/>
              <a:t>tools.</a:t>
            </a:r>
            <a:endParaRPr lang="en-IN" sz="1200" dirty="0" smtClean="0"/>
          </a:p>
          <a:p>
            <a:pPr marL="228600" indent="-228600">
              <a:spcAft>
                <a:spcPts val="300"/>
              </a:spcAft>
              <a:buFont typeface="+mj-lt"/>
              <a:buAutoNum type="arabicParenR" startAt="4"/>
              <a:defRPr sz="950">
                <a:solidFill>
                  <a:srgbClr val="E2E8F0"/>
                </a:solidFill>
              </a:defRPr>
            </a:pPr>
            <a:r>
              <a:rPr sz="1200" b="1" dirty="0" smtClean="0"/>
              <a:t>Henry </a:t>
            </a:r>
            <a:r>
              <a:rPr sz="1200" b="1" dirty="0"/>
              <a:t>et al. (Science TM 2015, </a:t>
            </a:r>
            <a:r>
              <a:rPr sz="1200" b="1" dirty="0" err="1"/>
              <a:t>TREWScore</a:t>
            </a:r>
            <a:r>
              <a:rPr sz="1200" b="1" dirty="0"/>
              <a:t>): </a:t>
            </a:r>
            <a:r>
              <a:rPr sz="1200" dirty="0"/>
              <a:t>Dynamic sepsis early warning. Single-patient focus; lacks multi-patient spatial ward cluster </a:t>
            </a:r>
            <a:r>
              <a:rPr sz="1200" dirty="0" smtClean="0"/>
              <a:t>radar.</a:t>
            </a:r>
            <a:endParaRPr lang="en-IN" sz="1200" dirty="0" smtClean="0"/>
          </a:p>
          <a:p>
            <a:pPr marL="228600" indent="-228600">
              <a:spcAft>
                <a:spcPts val="300"/>
              </a:spcAft>
              <a:buFont typeface="+mj-lt"/>
              <a:buAutoNum type="arabicParenR" startAt="4"/>
              <a:defRPr sz="950">
                <a:solidFill>
                  <a:srgbClr val="E2E8F0"/>
                </a:solidFill>
              </a:defRPr>
            </a:pPr>
            <a:r>
              <a:rPr sz="1200" b="1" dirty="0" err="1" smtClean="0"/>
              <a:t>Komorowski</a:t>
            </a:r>
            <a:r>
              <a:rPr sz="1200" b="1" dirty="0" smtClean="0"/>
              <a:t> </a:t>
            </a:r>
            <a:r>
              <a:rPr sz="1200" b="1" dirty="0"/>
              <a:t>et al. (Nature Med 2018): </a:t>
            </a:r>
            <a:r>
              <a:rPr sz="1200" dirty="0"/>
              <a:t>Reinforcement learning in sepsis. High-complexity black box; lacks transparent local </a:t>
            </a:r>
            <a:r>
              <a:rPr sz="1200" dirty="0" err="1"/>
              <a:t>TreeSHAP</a:t>
            </a:r>
            <a:r>
              <a:rPr sz="1200" dirty="0"/>
              <a:t> attribution.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03520"/>
            <a:ext cx="1127729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5413248"/>
            <a:ext cx="110029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200" b="1" dirty="0"/>
              <a:t>LITERATURE GAP ADDRESSED: </a:t>
            </a:r>
            <a:r>
              <a:rPr sz="1200" dirty="0"/>
              <a:t>HAI-Sentinel synthesizes CDC-grounded surveillance, calibrated gradient-boosted trees (ECE 0.0097), domain-grouped </a:t>
            </a:r>
            <a:r>
              <a:rPr sz="1200" dirty="0" err="1"/>
              <a:t>TreeSHAP</a:t>
            </a:r>
            <a:r>
              <a:rPr sz="1200" dirty="0"/>
              <a:t> attribution, and spatial unit-level risk radar into a unified offline platform.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463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HAI-SENTINEL | Explainable AI Prevention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57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</a:defRPr>
            </a:pPr>
            <a:r>
              <a:t>PREDICT -&gt; EXPLAIN -&gt; TRACK -&gt; PRIORITIZE -&gt; PREVENT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 smtClean="0"/>
              <a:t>The </a:t>
            </a:r>
            <a:r>
              <a:rPr dirty="0"/>
              <a:t>missing layer is not another risk score. It is actionable trajectory intelligence</a:t>
            </a:r>
            <a:r>
              <a:rPr dirty="0" smtClean="0"/>
              <a:t>.</a:t>
            </a:r>
            <a:endParaRPr dirty="0"/>
          </a:p>
          <a:p>
            <a:pPr>
              <a:defRPr sz="1100">
                <a:solidFill>
                  <a:srgbClr val="38BDF8"/>
                </a:solidFill>
              </a:defRPr>
            </a:pPr>
            <a:r>
              <a:rPr sz="1200" dirty="0"/>
              <a:t>Architectural &amp; Clinical Decomposition of the Unresolved Surveillance Void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29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87477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rPr dirty="0"/>
              <a:t>OMNI_BIOTECH_9 • HOSPITAL-ACQUIRED INFECTIONS  |  </a:t>
            </a:r>
            <a:r>
              <a:rPr dirty="0" smtClean="0"/>
              <a:t>100</a:t>
            </a:r>
            <a:r>
              <a:rPr dirty="0"/>
              <a:t>% AIR-GAPPED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347472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17158"/>
            <a:ext cx="320040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94A3B8"/>
                </a:solidFill>
              </a:defRPr>
            </a:pPr>
            <a:r>
              <a:rPr sz="1600" dirty="0"/>
              <a:t>Conventional Approaches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Static </a:t>
            </a:r>
            <a:r>
              <a:rPr sz="1200" dirty="0"/>
              <a:t>24h aggregated </a:t>
            </a:r>
            <a:r>
              <a:rPr sz="1200" dirty="0" smtClean="0"/>
              <a:t>features.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err="1" smtClean="0"/>
              <a:t>Uncalibrated</a:t>
            </a:r>
            <a:r>
              <a:rPr sz="1200" dirty="0" smtClean="0"/>
              <a:t> </a:t>
            </a:r>
            <a:r>
              <a:rPr sz="1200" dirty="0"/>
              <a:t>binary </a:t>
            </a:r>
            <a:r>
              <a:rPr sz="1200" dirty="0" smtClean="0"/>
              <a:t>classifiers.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Opaque </a:t>
            </a:r>
            <a:r>
              <a:rPr sz="1200" dirty="0"/>
              <a:t>threshold buzzer </a:t>
            </a:r>
            <a:r>
              <a:rPr sz="1200" dirty="0" smtClean="0"/>
              <a:t>alarms.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Isolated </a:t>
            </a:r>
            <a:r>
              <a:rPr sz="1200" dirty="0"/>
              <a:t>single-patient </a:t>
            </a:r>
            <a:r>
              <a:rPr sz="1200" dirty="0" smtClean="0"/>
              <a:t>focus.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Severe </a:t>
            </a:r>
            <a:r>
              <a:rPr sz="1200" dirty="0"/>
              <a:t>alert fatigue (&gt;85% dismissal).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47472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617158"/>
            <a:ext cx="320040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F43F5E"/>
                </a:solidFill>
              </a:defRPr>
            </a:pPr>
            <a:r>
              <a:rPr sz="1600" dirty="0"/>
              <a:t>The Unresolved Void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No </a:t>
            </a:r>
            <a:r>
              <a:rPr sz="1200" dirty="0"/>
              <a:t>continuous trajectory (v, a</a:t>
            </a:r>
            <a:r>
              <a:rPr sz="1200" dirty="0" smtClean="0"/>
              <a:t>).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No </a:t>
            </a:r>
            <a:r>
              <a:rPr sz="1200" dirty="0"/>
              <a:t>local game-theoretic </a:t>
            </a:r>
            <a:r>
              <a:rPr sz="1200" dirty="0" err="1" smtClean="0"/>
              <a:t>explainability</a:t>
            </a:r>
            <a:r>
              <a:rPr sz="1200" dirty="0" smtClean="0"/>
              <a:t>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No </a:t>
            </a:r>
            <a:r>
              <a:rPr sz="1200" dirty="0"/>
              <a:t>spatial unit contagion </a:t>
            </a:r>
            <a:r>
              <a:rPr sz="1200" dirty="0" smtClean="0"/>
              <a:t>radar.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No </a:t>
            </a:r>
            <a:r>
              <a:rPr sz="1200" dirty="0"/>
              <a:t>counterfactual scenario </a:t>
            </a:r>
            <a:r>
              <a:rPr sz="1200" dirty="0" smtClean="0"/>
              <a:t>simulator.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No </a:t>
            </a:r>
            <a:r>
              <a:rPr sz="1200" dirty="0"/>
              <a:t>prioritized IPC rounding triage.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47472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626036"/>
            <a:ext cx="320040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38BDF8"/>
                </a:solidFill>
              </a:defRPr>
            </a:pPr>
            <a:r>
              <a:rPr sz="1600" dirty="0"/>
              <a:t>HAI-Sentinel Intelligence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Continuous </a:t>
            </a:r>
            <a:r>
              <a:rPr sz="1200" dirty="0"/>
              <a:t>trajectory calculus (v, a</a:t>
            </a:r>
            <a:r>
              <a:rPr sz="1200" dirty="0" smtClean="0"/>
              <a:t>).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Domain-grouped </a:t>
            </a:r>
            <a:r>
              <a:rPr sz="1200" dirty="0" err="1"/>
              <a:t>TreeSHAP</a:t>
            </a:r>
            <a:r>
              <a:rPr sz="1200" dirty="0"/>
              <a:t> </a:t>
            </a:r>
            <a:r>
              <a:rPr sz="1200" dirty="0" err="1" smtClean="0"/>
              <a:t>explainability</a:t>
            </a:r>
            <a:r>
              <a:rPr sz="1200" dirty="0" smtClean="0"/>
              <a:t>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Calibrated </a:t>
            </a:r>
            <a:r>
              <a:rPr sz="1200" dirty="0"/>
              <a:t>posterior risk (ECE 0.0097</a:t>
            </a:r>
            <a:r>
              <a:rPr sz="1200" dirty="0" smtClean="0"/>
              <a:t>).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Spatial </a:t>
            </a:r>
            <a:r>
              <a:rPr sz="1200" dirty="0"/>
              <a:t>ward risk density </a:t>
            </a:r>
            <a:r>
              <a:rPr sz="1200" dirty="0" smtClean="0"/>
              <a:t>radar.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Prioritized </a:t>
            </a:r>
            <a:r>
              <a:rPr sz="1200" dirty="0"/>
              <a:t>P1/P2/P3 IPC rounding triage.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03520"/>
            <a:ext cx="1127729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5413248"/>
            <a:ext cx="110029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200" b="1" dirty="0"/>
              <a:t>CORE RESEARCH INSIGHT: </a:t>
            </a:r>
            <a:r>
              <a:rPr sz="1200" dirty="0"/>
              <a:t>The clinical bottleneck is not data availability; it is the lack of explainable trajectory intelligence that connects physiological changes directly to prioritized bedside Infection Prevention &amp; Control (IPC) actions.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463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HAI-SENTINEL | Explainable AI Prevention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57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</a:defRPr>
            </a:pPr>
            <a:r>
              <a:t>PREDICT -&gt; EXPLAIN -&gt; TRACK -&gt; PRIORITIZE -&gt; PREVENT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 smtClean="0"/>
              <a:t>From </a:t>
            </a:r>
            <a:r>
              <a:rPr dirty="0"/>
              <a:t>prediction to prevention intelligence</a:t>
            </a:r>
            <a:r>
              <a:rPr dirty="0" smtClean="0"/>
              <a:t>.</a:t>
            </a:r>
            <a:endParaRPr dirty="0"/>
          </a:p>
          <a:p>
            <a:pPr>
              <a:defRPr sz="1100">
                <a:solidFill>
                  <a:srgbClr val="38BDF8"/>
                </a:solidFill>
              </a:defRPr>
            </a:pPr>
            <a:r>
              <a:rPr sz="1200" dirty="0"/>
              <a:t>The Five-Stage Closed-Loop Clinical Intelligence Paradigm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29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87477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rPr dirty="0"/>
              <a:t>OMNI_BIOTECH_9 • HOSPITAL-ACQUIRED INFECTIONS  |  </a:t>
            </a:r>
            <a:r>
              <a:rPr dirty="0" smtClean="0"/>
              <a:t>100</a:t>
            </a:r>
            <a:r>
              <a:rPr dirty="0"/>
              <a:t>% AIR-GAPPED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2130552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572768"/>
            <a:ext cx="1856232" cy="1746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38BDF8"/>
                </a:solidFill>
              </a:defRPr>
            </a:pPr>
            <a:r>
              <a:rPr sz="1600" dirty="0"/>
              <a:t>STAGE 1: PREDICT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Calibrated </a:t>
            </a:r>
            <a:r>
              <a:rPr sz="1200" dirty="0"/>
              <a:t>Posterior </a:t>
            </a:r>
            <a:r>
              <a:rPr sz="1200" dirty="0" smtClean="0"/>
              <a:t>Risk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Isotonic </a:t>
            </a:r>
            <a:r>
              <a:rPr sz="1200" dirty="0" err="1"/>
              <a:t>XGBoost</a:t>
            </a:r>
            <a:r>
              <a:rPr sz="1200" dirty="0"/>
              <a:t> computes P(Y=1|X) with ECE 0.0097, avoiding probability threshold distortion.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463040"/>
            <a:ext cx="2130552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80360" y="1572768"/>
            <a:ext cx="1856232" cy="156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0B981"/>
                </a:solidFill>
              </a:defRPr>
            </a:pPr>
            <a:r>
              <a:rPr sz="1600" dirty="0"/>
              <a:t>STAGE 2: EXPLAIN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err="1" smtClean="0"/>
              <a:t>TreeSHAP</a:t>
            </a:r>
            <a:r>
              <a:rPr sz="1200" dirty="0" smtClean="0"/>
              <a:t> Attribution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Decomposes </a:t>
            </a:r>
            <a:r>
              <a:rPr sz="1200" dirty="0"/>
              <a:t>prediction into additive contributions across Invasive Devices, Vitals, and Labs</a:t>
            </a:r>
            <a:r>
              <a:rPr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463040"/>
            <a:ext cx="2130552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66360" y="1572768"/>
            <a:ext cx="1856232" cy="156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F59E0B"/>
                </a:solidFill>
              </a:defRPr>
            </a:pPr>
            <a:r>
              <a:rPr sz="1600" dirty="0"/>
              <a:t>STAGE 3: TRACK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Trajectory Calculus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Calculates </a:t>
            </a:r>
            <a:r>
              <a:rPr sz="1200" dirty="0"/>
              <a:t>discrete risk velocity (v) and acceleration (a) over rolling windows to catch acute spikes.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463040"/>
            <a:ext cx="2130552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360" y="1572768"/>
            <a:ext cx="1856232" cy="1808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A855F7"/>
                </a:solidFill>
              </a:defRPr>
            </a:pPr>
            <a:r>
              <a:rPr sz="1600" dirty="0"/>
              <a:t>STAGE 4: PRIORITIZE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IPC </a:t>
            </a:r>
            <a:r>
              <a:rPr sz="1200" dirty="0"/>
              <a:t>Workflow </a:t>
            </a:r>
            <a:r>
              <a:rPr sz="1200" dirty="0" smtClean="0"/>
              <a:t>Triage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Automates </a:t>
            </a:r>
            <a:r>
              <a:rPr sz="1200" dirty="0"/>
              <a:t>rounding triage into Priority 1 (Immediate), Priority 2 (Watch), and Priority 3 (Routine).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463040"/>
            <a:ext cx="2130552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38360" y="1572768"/>
            <a:ext cx="1856232" cy="1746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F43F5E"/>
                </a:solidFill>
              </a:defRPr>
            </a:pPr>
            <a:r>
              <a:rPr sz="1600" dirty="0"/>
              <a:t>STAGE 5: PREVENT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Actionable Rounding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Guides </a:t>
            </a:r>
            <a:r>
              <a:rPr sz="1200" dirty="0"/>
              <a:t>catheter bundle audits and environmental cleaning. (Prevention is an operational workflow objective).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03520"/>
            <a:ext cx="1127729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5413248"/>
            <a:ext cx="110029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200" b="1" dirty="0"/>
              <a:t>CLINICAL POSITIONING: </a:t>
            </a:r>
            <a:r>
              <a:rPr sz="1200" dirty="0"/>
              <a:t>HAI-Sentinel is a decision-support and early-warning prioritization system. It DOES NOT provide definitive microbiological diagnosis and DOES NOT replace clinicians. It structures attention and prevention workflows.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463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HAI-SENTINEL | Explainable AI Prevention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57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</a:defRPr>
            </a:pPr>
            <a:r>
              <a:t>PREDICT -&gt; EXPLAIN -&gt; TRACK -&gt; PRIORITIZE -&gt; PREVENT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 smtClean="0"/>
              <a:t>Engineered </a:t>
            </a:r>
            <a:r>
              <a:rPr dirty="0"/>
              <a:t>for comprehensive clinical infection surveillance</a:t>
            </a:r>
            <a:r>
              <a:rPr dirty="0" smtClean="0"/>
              <a:t>.</a:t>
            </a:r>
            <a:endParaRPr dirty="0"/>
          </a:p>
          <a:p>
            <a:pPr>
              <a:defRPr sz="1100">
                <a:solidFill>
                  <a:srgbClr val="38BDF8"/>
                </a:solidFill>
              </a:defRPr>
            </a:pPr>
            <a:r>
              <a:rPr sz="1200" dirty="0"/>
              <a:t>The Five Architectural Pillars Powering the HAI-Sentinel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29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87477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rPr dirty="0"/>
              <a:t>OMNI_BIOTECH_9 • HOSPITAL-ACQUIRED INFECTIONS  |  </a:t>
            </a:r>
            <a:r>
              <a:rPr dirty="0" smtClean="0"/>
              <a:t>100</a:t>
            </a:r>
            <a:r>
              <a:rPr dirty="0"/>
              <a:t>% AIR-GAPPED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2130552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572768"/>
            <a:ext cx="1856232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38BDF8"/>
                </a:solidFill>
              </a:defRPr>
            </a:pPr>
            <a:r>
              <a:rPr sz="1400" dirty="0"/>
              <a:t>PILLAR 01: Dynamic Trajectory </a:t>
            </a:r>
            <a:r>
              <a:rPr sz="1400" dirty="0" smtClean="0"/>
              <a:t>Engine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Rolling 12h &amp; 24h backward windows.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Discrete </a:t>
            </a:r>
            <a:r>
              <a:rPr sz="1200" dirty="0"/>
              <a:t>risk velocity (v_12h</a:t>
            </a:r>
            <a:r>
              <a:rPr sz="1200" dirty="0" smtClean="0"/>
              <a:t>).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Non-linear </a:t>
            </a:r>
            <a:r>
              <a:rPr sz="1200" dirty="0"/>
              <a:t>acceleration (a_12h</a:t>
            </a:r>
            <a:r>
              <a:rPr sz="1200" dirty="0" smtClean="0"/>
              <a:t>).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Automated </a:t>
            </a:r>
            <a:r>
              <a:rPr sz="1200" dirty="0"/>
              <a:t>rapid escalation flags.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463040"/>
            <a:ext cx="2130552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80360" y="1572768"/>
            <a:ext cx="1856232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0B981"/>
                </a:solidFill>
              </a:defRPr>
            </a:pPr>
            <a:r>
              <a:rPr sz="1400" dirty="0"/>
              <a:t>PILLAR 02: </a:t>
            </a:r>
            <a:r>
              <a:rPr sz="1400" dirty="0" err="1"/>
              <a:t>TreeSHAP</a:t>
            </a:r>
            <a:r>
              <a:rPr sz="1400" dirty="0"/>
              <a:t> </a:t>
            </a:r>
            <a:r>
              <a:rPr sz="1400" dirty="0" err="1"/>
              <a:t>Explainability</a:t>
            </a:r>
            <a:endParaRPr sz="14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Exact </a:t>
            </a:r>
            <a:r>
              <a:rPr sz="1200" dirty="0"/>
              <a:t>game-theoretic </a:t>
            </a:r>
            <a:r>
              <a:rPr sz="1200" dirty="0" smtClean="0"/>
              <a:t>attribution.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Grouped </a:t>
            </a:r>
            <a:r>
              <a:rPr sz="1200" dirty="0"/>
              <a:t>into Devices, Vitals, </a:t>
            </a:r>
            <a:r>
              <a:rPr sz="1200" dirty="0" smtClean="0"/>
              <a:t>Labs.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Positive </a:t>
            </a:r>
            <a:r>
              <a:rPr sz="1200" dirty="0"/>
              <a:t>&amp; negative force </a:t>
            </a:r>
            <a:r>
              <a:rPr sz="1200" dirty="0" smtClean="0"/>
              <a:t>breakdown.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Eliminates </a:t>
            </a:r>
            <a:r>
              <a:rPr sz="1200" dirty="0"/>
              <a:t>black-box alarm fatigue.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463040"/>
            <a:ext cx="2130552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66360" y="1572768"/>
            <a:ext cx="1856232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F59E0B"/>
                </a:solidFill>
              </a:defRPr>
            </a:pPr>
            <a:r>
              <a:rPr sz="1400" dirty="0"/>
              <a:t>PILLAR 03: Spatial Ward Radar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Aggregates </a:t>
            </a:r>
            <a:r>
              <a:rPr sz="1200" dirty="0"/>
              <a:t>unit spatial risk </a:t>
            </a:r>
            <a:r>
              <a:rPr sz="1200" dirty="0" smtClean="0"/>
              <a:t>density.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Detects </a:t>
            </a:r>
            <a:r>
              <a:rPr sz="1200" dirty="0"/>
              <a:t>concurrent bed </a:t>
            </a:r>
            <a:r>
              <a:rPr sz="1200" dirty="0" smtClean="0"/>
              <a:t>escalations.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Emits </a:t>
            </a:r>
            <a:r>
              <a:rPr sz="1200" dirty="0"/>
              <a:t>'Potential cluster requiring review</a:t>
            </a:r>
            <a:r>
              <a:rPr sz="1200" dirty="0" smtClean="0"/>
              <a:t>'.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Strict </a:t>
            </a:r>
            <a:r>
              <a:rPr sz="1200" dirty="0"/>
              <a:t>non-outbreak clinical signal.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463040"/>
            <a:ext cx="2130552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360" y="1572768"/>
            <a:ext cx="1856232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A855F7"/>
                </a:solidFill>
              </a:defRPr>
            </a:pPr>
            <a:r>
              <a:rPr sz="1400" dirty="0"/>
              <a:t>PILLAR 04: What-If Scenario Simulator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Interactive </a:t>
            </a:r>
            <a:r>
              <a:rPr sz="1200" dirty="0"/>
              <a:t>parameter </a:t>
            </a:r>
            <a:r>
              <a:rPr sz="1200" dirty="0" smtClean="0"/>
              <a:t>sensitivity.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Tests </a:t>
            </a:r>
            <a:r>
              <a:rPr sz="1200" dirty="0"/>
              <a:t>CVC removal, WBC, temp </a:t>
            </a:r>
            <a:r>
              <a:rPr sz="1200" dirty="0" smtClean="0"/>
              <a:t>slope.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Re-estimates </a:t>
            </a:r>
            <a:r>
              <a:rPr sz="1200" dirty="0"/>
              <a:t>trajectory &amp; </a:t>
            </a:r>
            <a:r>
              <a:rPr sz="1200" dirty="0" smtClean="0"/>
              <a:t>SHAP.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Strict </a:t>
            </a:r>
            <a:r>
              <a:rPr sz="1200" dirty="0"/>
              <a:t>non-causal scenario framing.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463040"/>
            <a:ext cx="2130552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38360" y="1572768"/>
            <a:ext cx="1856232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F43F5E"/>
                </a:solidFill>
              </a:defRPr>
            </a:pPr>
            <a:r>
              <a:rPr sz="1400" dirty="0"/>
              <a:t>PILLAR 05: Prioritized IPC Rounding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Automated </a:t>
            </a:r>
            <a:r>
              <a:rPr sz="1200" dirty="0"/>
              <a:t>triage: Priority 1, 2, and </a:t>
            </a:r>
            <a:r>
              <a:rPr sz="1200" dirty="0" smtClean="0"/>
              <a:t>3.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Direct </a:t>
            </a:r>
            <a:r>
              <a:rPr sz="1200" dirty="0"/>
              <a:t>bedside line bundle </a:t>
            </a:r>
            <a:r>
              <a:rPr sz="1200" dirty="0" smtClean="0"/>
              <a:t>audits.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Bedside </a:t>
            </a:r>
            <a:r>
              <a:rPr sz="1200" dirty="0"/>
              <a:t>protocol compliance </a:t>
            </a:r>
            <a:r>
              <a:rPr sz="1200" dirty="0" smtClean="0"/>
              <a:t>tracking.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Cryptographic </a:t>
            </a:r>
            <a:r>
              <a:rPr sz="1200" dirty="0"/>
              <a:t>audit logging.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03520"/>
            <a:ext cx="1127729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5413248"/>
            <a:ext cx="110029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200" b="1" dirty="0"/>
              <a:t>INTEGRATED PLATFORM: </a:t>
            </a:r>
            <a:r>
              <a:rPr sz="1200" dirty="0"/>
              <a:t>All five pillars operate synchronously in real time, connecting physiological telemetry ingestion to automated infection </a:t>
            </a:r>
            <a:r>
              <a:rPr sz="1200" dirty="0" err="1"/>
              <a:t>preventionist</a:t>
            </a:r>
            <a:r>
              <a:rPr sz="1200" dirty="0"/>
              <a:t> bedside rounding.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463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HAI-SENTINEL | Explainable AI Prevention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57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</a:defRPr>
            </a:pPr>
            <a:r>
              <a:t>PREDICT -&gt; EXPLAIN -&gt; TRACK -&gt; PRIORITIZE -&gt; PREVENT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 smtClean="0"/>
              <a:t>A </a:t>
            </a:r>
            <a:r>
              <a:rPr dirty="0"/>
              <a:t>risk score becomes more informative when its direction and acceleration are visible</a:t>
            </a:r>
            <a:r>
              <a:rPr dirty="0" smtClean="0"/>
              <a:t>.</a:t>
            </a:r>
            <a:endParaRPr dirty="0"/>
          </a:p>
          <a:p>
            <a:pPr>
              <a:defRPr sz="1100">
                <a:solidFill>
                  <a:srgbClr val="38BDF8"/>
                </a:solidFill>
              </a:defRPr>
            </a:pPr>
            <a:r>
              <a:rPr sz="1200" dirty="0"/>
              <a:t>Mathematical Formulation of Discrete Derivatives &amp; Rapid Escalation Dynamics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29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87477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rPr dirty="0"/>
              <a:t>OMNI_BIOTECH_9 • HOSPITAL-ACQUIRED INFECTIONS  |  </a:t>
            </a:r>
            <a:r>
              <a:rPr dirty="0" smtClean="0"/>
              <a:t>100</a:t>
            </a:r>
            <a:r>
              <a:rPr dirty="0"/>
              <a:t>% AIR-GAPPED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539496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43792"/>
            <a:ext cx="5120640" cy="1454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38BDF8"/>
                </a:solidFill>
              </a:defRPr>
            </a:pPr>
            <a:r>
              <a:rPr sz="1600" dirty="0"/>
              <a:t>Mathematical Formulation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eriod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Calibrated </a:t>
            </a:r>
            <a:r>
              <a:rPr sz="1200" dirty="0"/>
              <a:t>Posterior Risk: P(Y = 1 | </a:t>
            </a:r>
            <a:r>
              <a:rPr sz="1200" dirty="0" err="1"/>
              <a:t>X_t</a:t>
            </a:r>
            <a:r>
              <a:rPr sz="1200" dirty="0"/>
              <a:t>) in [0, 100</a:t>
            </a:r>
            <a:r>
              <a:rPr sz="1200" dirty="0" smtClean="0"/>
              <a:t>%]</a:t>
            </a:r>
            <a:endParaRPr lang="en-IN" sz="1200" dirty="0" smtClean="0"/>
          </a:p>
          <a:p>
            <a:pPr marL="228600" indent="-228600">
              <a:spcAft>
                <a:spcPts val="300"/>
              </a:spcAft>
              <a:buFont typeface="+mj-lt"/>
              <a:buAutoNum type="arabicPeriod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Discrete </a:t>
            </a:r>
            <a:r>
              <a:rPr sz="1200" dirty="0"/>
              <a:t>Risk Velocity (v): v_12h = [Risk(t) - Risk(t - 12h)] / 12  [% / </a:t>
            </a:r>
            <a:r>
              <a:rPr sz="1200" dirty="0" smtClean="0"/>
              <a:t>hour]</a:t>
            </a:r>
            <a:endParaRPr lang="en-IN" sz="1200" dirty="0" smtClean="0"/>
          </a:p>
          <a:p>
            <a:pPr marL="228600" indent="-228600">
              <a:spcAft>
                <a:spcPts val="300"/>
              </a:spcAft>
              <a:buFont typeface="+mj-lt"/>
              <a:buAutoNum type="arabicPeriod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Discrete </a:t>
            </a:r>
            <a:r>
              <a:rPr sz="1200" dirty="0"/>
              <a:t>Risk Acceleration (a): a_12h = [v(t) - v(t - 12h)] / 12  [% / </a:t>
            </a:r>
            <a:r>
              <a:rPr sz="1200" dirty="0" smtClean="0"/>
              <a:t>hour^2]</a:t>
            </a:r>
            <a:endParaRPr lang="en-IN" sz="1200" dirty="0" smtClean="0"/>
          </a:p>
          <a:p>
            <a:pPr marL="228600" indent="-228600">
              <a:spcAft>
                <a:spcPts val="300"/>
              </a:spcAft>
              <a:buFont typeface="+mj-lt"/>
              <a:buAutoNum type="arabicPeriod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Rapid </a:t>
            </a:r>
            <a:r>
              <a:rPr sz="1200" dirty="0"/>
              <a:t>Escalation Trigger Rule: Flag = True IF (v_12h &gt;= +1.25%/h OR DeltaRisk_12h &gt;= +15.0% OR Risk &gt;= 80%)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41616"/>
            <a:ext cx="5120640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0B981"/>
                </a:solidFill>
              </a:defRPr>
            </a:pPr>
            <a:r>
              <a:rPr sz="1600" dirty="0"/>
              <a:t>Clinical Interpretation of Derivatives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Risk </a:t>
            </a:r>
            <a:r>
              <a:rPr sz="1200" dirty="0"/>
              <a:t>Level (Position): Answers 'How high is the risk right now</a:t>
            </a:r>
            <a:r>
              <a:rPr sz="1200" dirty="0" smtClean="0"/>
              <a:t>?'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Risk </a:t>
            </a:r>
            <a:r>
              <a:rPr sz="1200" dirty="0"/>
              <a:t>Velocity (1st Derivative): Answers 'How rapidly is infection risk rising?' Catches fast deterioration before raw threshold </a:t>
            </a:r>
            <a:r>
              <a:rPr sz="1200" dirty="0" smtClean="0"/>
              <a:t>breach.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Risk </a:t>
            </a:r>
            <a:r>
              <a:rPr sz="1200" dirty="0"/>
              <a:t>Acceleration (2nd Derivative): Answers 'Is deterioration itself accelerating?' Pinpoints critical inflection </a:t>
            </a:r>
            <a:r>
              <a:rPr sz="1200" dirty="0" smtClean="0"/>
              <a:t>points.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Clinical </a:t>
            </a:r>
            <a:r>
              <a:rPr sz="1200" dirty="0"/>
              <a:t>Priority: Priority 1 (Immediate Review), Priority 2 (Elevated Watch), Priority 3 (Routine Monitoring).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03520"/>
            <a:ext cx="1127729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5413248"/>
            <a:ext cx="110029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200" b="1" dirty="0"/>
              <a:t>TRAJECTORY BANDS: </a:t>
            </a:r>
            <a:r>
              <a:rPr sz="1200" dirty="0"/>
              <a:t>Stable Baseline (&lt;30%, v~0%/h) -&gt; Gradual Rise (30-59%, v~+0.5%/h) -&gt; Rapid Escalation (60-79%, v&gt;=+1.25%/h) -&gt; Critical Threshold (&gt;=80%, v&gt;=+3.0%/h).</a:t>
            </a:r>
          </a:p>
        </p:txBody>
      </p:sp>
      <p:pic>
        <p:nvPicPr>
          <p:cNvPr id="16" name="Picture 15" descr="viz_risk_trajector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791" y="1515602"/>
            <a:ext cx="5698704" cy="33171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7" name="TextBox 16"/>
          <p:cNvSpPr txBox="1"/>
          <p:nvPr/>
        </p:nvSpPr>
        <p:spPr>
          <a:xfrm>
            <a:off x="6035791" y="4853751"/>
            <a:ext cx="56987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rPr dirty="0"/>
              <a:t>LONGITUDINAL RISK &amp; VELOCITY DERIVATIVE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463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HAI-SENTINEL | Explainable AI Prevention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57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</a:defRPr>
            </a:pPr>
            <a:r>
              <a:t>PREDICT -&gt; EXPLAIN -&gt; TRACK -&gt; PRIORITIZE -&gt; PREVENT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 smtClean="0"/>
              <a:t>Every </a:t>
            </a:r>
            <a:r>
              <a:rPr dirty="0"/>
              <a:t>alert must answer: WHY is this patient's risk rising</a:t>
            </a:r>
            <a:r>
              <a:rPr dirty="0" smtClean="0"/>
              <a:t>?</a:t>
            </a:r>
            <a:endParaRPr dirty="0"/>
          </a:p>
          <a:p>
            <a:pPr>
              <a:defRPr sz="1100">
                <a:solidFill>
                  <a:srgbClr val="38BDF8"/>
                </a:solidFill>
              </a:defRPr>
            </a:pPr>
            <a:r>
              <a:rPr sz="1200" dirty="0"/>
              <a:t>Local Game-Theoretic </a:t>
            </a:r>
            <a:r>
              <a:rPr sz="1200" dirty="0" err="1"/>
              <a:t>TreeSHAP</a:t>
            </a:r>
            <a:r>
              <a:rPr sz="1200" dirty="0"/>
              <a:t> Attribution &amp; Clinical Domain Structuring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29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87477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rPr dirty="0"/>
              <a:t>OMNI_BIOTECH_9 • HOSPITAL-ACQUIRED INFECTIONS  |  </a:t>
            </a:r>
            <a:r>
              <a:rPr dirty="0" smtClean="0"/>
              <a:t>100</a:t>
            </a:r>
            <a:r>
              <a:rPr dirty="0"/>
              <a:t>% AIR-GAPPED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539496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52670"/>
            <a:ext cx="5120640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38BDF8"/>
                </a:solidFill>
              </a:defRPr>
            </a:pPr>
            <a:r>
              <a:rPr sz="1400" dirty="0" err="1"/>
              <a:t>TreeSHAP</a:t>
            </a:r>
            <a:r>
              <a:rPr sz="1400" dirty="0"/>
              <a:t> Mathematical Guarantees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100" dirty="0" smtClean="0"/>
              <a:t>Computes </a:t>
            </a:r>
            <a:r>
              <a:rPr sz="1100" dirty="0"/>
              <a:t>exact Shapley values satisfying local accuracy, </a:t>
            </a:r>
            <a:r>
              <a:rPr sz="1100" dirty="0" err="1"/>
              <a:t>missingness</a:t>
            </a:r>
            <a:r>
              <a:rPr sz="1100" dirty="0"/>
              <a:t>, and </a:t>
            </a:r>
            <a:r>
              <a:rPr sz="1100" dirty="0" smtClean="0"/>
              <a:t>consistency.</a:t>
            </a:r>
            <a:endParaRPr lang="en-IN" sz="11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100" dirty="0" smtClean="0"/>
              <a:t>Additive </a:t>
            </a:r>
            <a:r>
              <a:rPr sz="1100" dirty="0"/>
              <a:t>decomposition: f(x) = E[f(x)] + Sum </a:t>
            </a:r>
            <a:r>
              <a:rPr sz="1100" dirty="0" err="1"/>
              <a:t>phi_i</a:t>
            </a:r>
            <a:r>
              <a:rPr sz="1100" dirty="0"/>
              <a:t> where </a:t>
            </a:r>
            <a:r>
              <a:rPr sz="1100" dirty="0" err="1"/>
              <a:t>phi_i</a:t>
            </a:r>
            <a:r>
              <a:rPr sz="1100" dirty="0"/>
              <a:t> represents feature </a:t>
            </a:r>
            <a:r>
              <a:rPr sz="1100" dirty="0" err="1"/>
              <a:t>i</a:t>
            </a:r>
            <a:r>
              <a:rPr sz="1100" dirty="0"/>
              <a:t> </a:t>
            </a:r>
            <a:r>
              <a:rPr sz="1100" dirty="0" smtClean="0"/>
              <a:t>attribution.</a:t>
            </a:r>
            <a:endParaRPr lang="en-IN" sz="11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100" dirty="0" smtClean="0"/>
              <a:t>Eliminates </a:t>
            </a:r>
            <a:r>
              <a:rPr sz="1100" dirty="0"/>
              <a:t>arbitrary heuristic rankings; polynomial time complexity for gradient-boosted </a:t>
            </a:r>
            <a:r>
              <a:rPr sz="1100" dirty="0" smtClean="0"/>
              <a:t>trees.</a:t>
            </a:r>
            <a:endParaRPr lang="en-IN" sz="11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100" dirty="0" smtClean="0"/>
              <a:t>Grouped </a:t>
            </a:r>
            <a:r>
              <a:rPr sz="1100" dirty="0"/>
              <a:t>into clinically meaningful domains: Invasive Devices, Vital Signs, and Labs.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72448"/>
            <a:ext cx="5120640" cy="1592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F43F5E"/>
                </a:solidFill>
              </a:defRPr>
            </a:pPr>
            <a:r>
              <a:rPr sz="1400" dirty="0"/>
              <a:t>Patient DEMO-1042 Attribution Example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100" dirty="0" smtClean="0"/>
              <a:t>Central </a:t>
            </a:r>
            <a:r>
              <a:rPr sz="1100" dirty="0"/>
              <a:t>Venous Catheter Exposure (60.0h): +0.84 (Invasive Devices) [ELEVATES </a:t>
            </a:r>
            <a:r>
              <a:rPr sz="1100" dirty="0" smtClean="0"/>
              <a:t>RISK]</a:t>
            </a:r>
            <a:endParaRPr lang="en-IN" sz="11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100" dirty="0" smtClean="0"/>
              <a:t>12h </a:t>
            </a:r>
            <a:r>
              <a:rPr sz="1100" dirty="0"/>
              <a:t>Core Temp Upward Trend (38.6°C): +0.62 (Vital Signs) [ELEVATES </a:t>
            </a:r>
            <a:r>
              <a:rPr sz="1100" dirty="0" smtClean="0"/>
              <a:t>RISK]</a:t>
            </a:r>
            <a:endParaRPr lang="en-IN" sz="11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100" dirty="0" smtClean="0"/>
              <a:t>24h </a:t>
            </a:r>
            <a:r>
              <a:rPr sz="1100" dirty="0"/>
              <a:t>Leukocytosis Delta (18.4 k/</a:t>
            </a:r>
            <a:r>
              <a:rPr sz="1100" dirty="0" err="1"/>
              <a:t>uL</a:t>
            </a:r>
            <a:r>
              <a:rPr sz="1100" dirty="0"/>
              <a:t>, +8.2): +0.53 (Laboratory) [ELEVATES </a:t>
            </a:r>
            <a:r>
              <a:rPr sz="1100" dirty="0" smtClean="0"/>
              <a:t>RISK]</a:t>
            </a:r>
            <a:endParaRPr lang="en-IN" sz="11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100" dirty="0" smtClean="0"/>
              <a:t>Serum </a:t>
            </a:r>
            <a:r>
              <a:rPr sz="1100" dirty="0"/>
              <a:t>Lactate Rise (2.8 </a:t>
            </a:r>
            <a:r>
              <a:rPr sz="1100" dirty="0" err="1"/>
              <a:t>mmol</a:t>
            </a:r>
            <a:r>
              <a:rPr sz="1100" dirty="0"/>
              <a:t>/L): +0.39 (Laboratory) [ELEVATES </a:t>
            </a:r>
            <a:r>
              <a:rPr sz="1100" dirty="0" smtClean="0"/>
              <a:t>RISK]</a:t>
            </a:r>
            <a:endParaRPr lang="en-IN" sz="11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100" dirty="0" smtClean="0"/>
              <a:t>Platelet </a:t>
            </a:r>
            <a:r>
              <a:rPr sz="1100" dirty="0"/>
              <a:t>Nadir (95.0 k/</a:t>
            </a:r>
            <a:r>
              <a:rPr sz="1100" dirty="0" err="1"/>
              <a:t>uL</a:t>
            </a:r>
            <a:r>
              <a:rPr sz="1100" dirty="0"/>
              <a:t>): +0.28 (Laboratory) [ELEVATES </a:t>
            </a:r>
            <a:r>
              <a:rPr sz="1100" dirty="0" smtClean="0"/>
              <a:t>RISK]</a:t>
            </a:r>
            <a:endParaRPr lang="en-IN" sz="11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100" dirty="0" smtClean="0"/>
              <a:t>Mean </a:t>
            </a:r>
            <a:r>
              <a:rPr sz="1100" dirty="0"/>
              <a:t>Arterial Pressure (62.0 mmHg): -0.11 (Vital Signs) [REDUCES RISK]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03520"/>
            <a:ext cx="1127729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5413248"/>
            <a:ext cx="110029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200" b="1" dirty="0"/>
              <a:t>ETHICAL &amp; SCIENTIFIC GUARDRAIL: </a:t>
            </a:r>
            <a:r>
              <a:rPr sz="1200" dirty="0"/>
              <a:t>Feature attribution represents statistical model sensitivity. It DOES NOT assert definitive causal clinical mechanisms. We strictly enforce: FEATURE CONTRIBUTION != CAUSATION.</a:t>
            </a:r>
          </a:p>
        </p:txBody>
      </p:sp>
      <p:pic>
        <p:nvPicPr>
          <p:cNvPr id="16" name="Picture 15" descr="viz_treeshap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080" y="1463040"/>
            <a:ext cx="5743415" cy="33431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TextBox 16"/>
          <p:cNvSpPr txBox="1"/>
          <p:nvPr/>
        </p:nvSpPr>
        <p:spPr>
          <a:xfrm>
            <a:off x="5991079" y="4828031"/>
            <a:ext cx="574341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rPr dirty="0"/>
              <a:t>LOCAL TREESHAP ATTRIBUTION WATERFALL (PATIENT DEMO-1042)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463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HAI-SENTINEL | Explainable AI Prevention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57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</a:defRPr>
            </a:pPr>
            <a:r>
              <a:t>PREDICT -&gt; EXPLAIN -&gt; TRACK -&gt; PRIORITIZE -&gt; PREVENT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 smtClean="0"/>
              <a:t>HAI </a:t>
            </a:r>
            <a:r>
              <a:rPr dirty="0"/>
              <a:t>risk is not always isolated to one patient</a:t>
            </a:r>
            <a:r>
              <a:rPr dirty="0" smtClean="0"/>
              <a:t>.</a:t>
            </a:r>
            <a:endParaRPr dirty="0"/>
          </a:p>
          <a:p>
            <a:pPr>
              <a:defRPr sz="1100">
                <a:solidFill>
                  <a:srgbClr val="38BDF8"/>
                </a:solidFill>
              </a:defRPr>
            </a:pPr>
            <a:r>
              <a:rPr sz="1200" dirty="0"/>
              <a:t>Spatial-Temporal Risk Density &amp; Unit Cluster Anomaly Surveillance Radar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29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87477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rPr dirty="0"/>
              <a:t>OMNI_BIOTECH_9 • HOSPITAL-ACQUIRED INFECTIONS  |  </a:t>
            </a:r>
            <a:r>
              <a:rPr dirty="0" smtClean="0"/>
              <a:t>100</a:t>
            </a:r>
            <a:r>
              <a:rPr dirty="0"/>
              <a:t>% AIR-GAPPED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539496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707534"/>
            <a:ext cx="5120640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38BDF8"/>
                </a:solidFill>
              </a:defRPr>
            </a:pPr>
            <a:r>
              <a:rPr sz="1400" dirty="0"/>
              <a:t>Spatial Risk Density Formulation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100" dirty="0" smtClean="0"/>
              <a:t>Spatial </a:t>
            </a:r>
            <a:r>
              <a:rPr sz="1100" dirty="0"/>
              <a:t>Density: </a:t>
            </a:r>
            <a:r>
              <a:rPr sz="1100" dirty="0" err="1"/>
              <a:t>Density_ward</a:t>
            </a:r>
            <a:r>
              <a:rPr sz="1100" dirty="0"/>
              <a:t> = [Sum </a:t>
            </a:r>
            <a:r>
              <a:rPr sz="1100" dirty="0" err="1"/>
              <a:t>Risk_i</a:t>
            </a:r>
            <a:r>
              <a:rPr sz="1100" dirty="0"/>
              <a:t>] / [</a:t>
            </a:r>
            <a:r>
              <a:rPr sz="1100" dirty="0" err="1"/>
              <a:t>BedCount</a:t>
            </a:r>
            <a:r>
              <a:rPr sz="1100" dirty="0"/>
              <a:t> * </a:t>
            </a:r>
            <a:r>
              <a:rPr sz="1100" dirty="0" smtClean="0"/>
              <a:t>100]</a:t>
            </a:r>
            <a:endParaRPr lang="en-IN" sz="11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100" dirty="0" smtClean="0"/>
              <a:t>Aggregates </a:t>
            </a:r>
            <a:r>
              <a:rPr sz="1100" dirty="0"/>
              <a:t>continuous posterior risk probabilities across all occupied beds in an ICU </a:t>
            </a:r>
            <a:r>
              <a:rPr sz="1100" dirty="0" smtClean="0"/>
              <a:t>unit.</a:t>
            </a:r>
            <a:endParaRPr lang="en-IN" sz="11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100" dirty="0" smtClean="0"/>
              <a:t>Monitors </a:t>
            </a:r>
            <a:r>
              <a:rPr sz="1100" dirty="0"/>
              <a:t>spatial infection transmission pressure across physical ward </a:t>
            </a:r>
            <a:r>
              <a:rPr sz="1100" dirty="0" smtClean="0"/>
              <a:t>environments.</a:t>
            </a:r>
            <a:endParaRPr lang="en-IN" sz="11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100" dirty="0" smtClean="0"/>
              <a:t>Detects </a:t>
            </a:r>
            <a:r>
              <a:rPr sz="1100" dirty="0"/>
              <a:t>concurrent multi-patient escalations across neighboring beds.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99355"/>
            <a:ext cx="5120640" cy="1592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F43F5E"/>
                </a:solidFill>
              </a:defRPr>
            </a:pPr>
            <a:r>
              <a:rPr sz="1400" dirty="0"/>
              <a:t>ICU-A Spatial Contagion Detection Case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100" dirty="0" smtClean="0"/>
              <a:t>Bed </a:t>
            </a:r>
            <a:r>
              <a:rPr sz="1100" dirty="0"/>
              <a:t>ICU-A-04 (DEMO-1042): Risk 84.0% (CRITICAL), </a:t>
            </a:r>
            <a:r>
              <a:rPr sz="1100" dirty="0" err="1"/>
              <a:t>Vel</a:t>
            </a:r>
            <a:r>
              <a:rPr sz="1100" dirty="0"/>
              <a:t>: +23.0%/12h (</a:t>
            </a:r>
            <a:r>
              <a:rPr sz="1100" dirty="0" smtClean="0"/>
              <a:t>RAPID)</a:t>
            </a:r>
            <a:endParaRPr lang="en-IN" sz="11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100" dirty="0" smtClean="0"/>
              <a:t>Bed </a:t>
            </a:r>
            <a:r>
              <a:rPr sz="1100" dirty="0"/>
              <a:t>ICU-A-05 (DEMO-1043): Risk 86.0% (CRITICAL), </a:t>
            </a:r>
            <a:r>
              <a:rPr sz="1100" dirty="0" err="1"/>
              <a:t>Vel</a:t>
            </a:r>
            <a:r>
              <a:rPr sz="1100" dirty="0"/>
              <a:t>: +28.0%/12h (</a:t>
            </a:r>
            <a:r>
              <a:rPr sz="1100" dirty="0" smtClean="0"/>
              <a:t>RAPID)</a:t>
            </a:r>
            <a:endParaRPr lang="en-IN" sz="11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100" dirty="0" smtClean="0"/>
              <a:t>Bed </a:t>
            </a:r>
            <a:r>
              <a:rPr sz="1100" dirty="0"/>
              <a:t>ICU-A-06 (DEMO-1044): Risk 78.0% (HIGH), </a:t>
            </a:r>
            <a:r>
              <a:rPr sz="1100" dirty="0" err="1"/>
              <a:t>Vel</a:t>
            </a:r>
            <a:r>
              <a:rPr sz="1100" dirty="0"/>
              <a:t>: +30.0%/12h (</a:t>
            </a:r>
            <a:r>
              <a:rPr sz="1100" dirty="0" smtClean="0"/>
              <a:t>RAPID)</a:t>
            </a:r>
            <a:endParaRPr lang="en-IN" sz="11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100" dirty="0" smtClean="0"/>
              <a:t>Bed </a:t>
            </a:r>
            <a:r>
              <a:rPr sz="1100" dirty="0"/>
              <a:t>ICU-A-07 (DEMO-1045): Risk 64.0% (HIGH), </a:t>
            </a:r>
            <a:r>
              <a:rPr sz="1100" dirty="0" err="1"/>
              <a:t>Vel</a:t>
            </a:r>
            <a:r>
              <a:rPr sz="1100" dirty="0"/>
              <a:t>: +28.0%/12h (</a:t>
            </a:r>
            <a:r>
              <a:rPr sz="1100" dirty="0" smtClean="0"/>
              <a:t>RAPID)</a:t>
            </a:r>
            <a:endParaRPr lang="en-IN" sz="11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100" dirty="0" smtClean="0"/>
              <a:t>Cluster </a:t>
            </a:r>
            <a:r>
              <a:rPr sz="1100" dirty="0"/>
              <a:t>Trigger: Signal = True IF (</a:t>
            </a:r>
            <a:r>
              <a:rPr sz="1100" dirty="0" err="1"/>
              <a:t>HighRiskCount</a:t>
            </a:r>
            <a:r>
              <a:rPr sz="1100" dirty="0"/>
              <a:t> &gt;= 3 AND </a:t>
            </a:r>
            <a:r>
              <a:rPr sz="1100" dirty="0" err="1"/>
              <a:t>RapidlyRising</a:t>
            </a:r>
            <a:r>
              <a:rPr sz="1100" dirty="0"/>
              <a:t> &gt;= </a:t>
            </a:r>
            <a:r>
              <a:rPr sz="1100" dirty="0" smtClean="0"/>
              <a:t>2)</a:t>
            </a:r>
            <a:endParaRPr lang="en-IN" sz="11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100" dirty="0" smtClean="0"/>
              <a:t>Output</a:t>
            </a:r>
            <a:r>
              <a:rPr sz="1100" dirty="0"/>
              <a:t>: 'Potential cluster requiring IPC review' (NON-OUTBREAK SIGNAL)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03520"/>
            <a:ext cx="1127729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5413248"/>
            <a:ext cx="110029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200" b="1" dirty="0"/>
              <a:t>RADAR ACTION DISPATCH: </a:t>
            </a:r>
            <a:r>
              <a:rPr sz="1200" dirty="0"/>
              <a:t>Spatial contagion detection in ICU-A automatically dispatches targeted IPC bundle compliance audits, environmental disinfection rounding, and nurse staffing ratio review.</a:t>
            </a:r>
          </a:p>
        </p:txBody>
      </p:sp>
      <p:pic>
        <p:nvPicPr>
          <p:cNvPr id="16" name="Picture 15" descr="04_ward_intelli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42859"/>
            <a:ext cx="5790895" cy="33708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TextBox 16"/>
          <p:cNvSpPr txBox="1"/>
          <p:nvPr/>
        </p:nvSpPr>
        <p:spPr>
          <a:xfrm>
            <a:off x="5943599" y="4828031"/>
            <a:ext cx="57908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rPr dirty="0"/>
              <a:t>LIVE 24-BED SPATIAL MATRIX &amp; WARD RISK GAUGES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463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HAI-SENTINEL | Explainable AI Prevention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57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</a:defRPr>
            </a:pPr>
            <a:r>
              <a:t>PREDICT -&gt; EXPLAIN -&gt; TRACK -&gt; PRIORITIZE -&gt; PREVENT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 smtClean="0"/>
              <a:t>A </a:t>
            </a:r>
            <a:r>
              <a:rPr dirty="0"/>
              <a:t>complete infection-risk escalation can be demonstrated in 90 seconds</a:t>
            </a:r>
            <a:r>
              <a:rPr dirty="0" smtClean="0"/>
              <a:t>.</a:t>
            </a:r>
            <a:endParaRPr dirty="0"/>
          </a:p>
          <a:p>
            <a:pPr>
              <a:defRPr sz="1100">
                <a:solidFill>
                  <a:srgbClr val="38BDF8"/>
                </a:solidFill>
              </a:defRPr>
            </a:pPr>
            <a:r>
              <a:rPr sz="1200" dirty="0"/>
              <a:t>Verifiable Step-by-Step Execution Sequence for Competition Evaluation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29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OMNI_BIOTECH_9 • HOSPITAL-ACQUIRED INFECTIONS  |  SUBMISSION DEADLINE: 27 AUGUST 2026 • 11:59 PM IST  |  100% AIR-GAPPED READY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303520"/>
            <a:ext cx="1127729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413248"/>
            <a:ext cx="110029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lang="en-US" sz="1200" b="1" dirty="0"/>
              <a:t>COMPETITION READINESS:</a:t>
            </a:r>
            <a:r>
              <a:rPr lang="en-US" sz="1200" dirty="0"/>
              <a:t> The entire 6-stage clinical escalation is deterministic, automated, and runs offline in &lt;60 seconds, enabling rapid, reproducible evaluation by judges without internet connectivity.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1463040"/>
            <a:ext cx="475488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1572768"/>
            <a:ext cx="44805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38BDF8"/>
                </a:solidFill>
              </a:defRPr>
            </a:pPr>
            <a:r>
              <a:rPr sz="1600" dirty="0"/>
              <a:t>Deterministic 6-Stage Demo Sequence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Stage </a:t>
            </a:r>
            <a:r>
              <a:rPr sz="1200" dirty="0"/>
              <a:t>1 (</a:t>
            </a:r>
            <a:r>
              <a:rPr sz="1200" dirty="0" err="1"/>
              <a:t>Hr</a:t>
            </a:r>
            <a:r>
              <a:rPr sz="1200" dirty="0"/>
              <a:t> 0): 17.0% (LOW) | Normal baseline. Priority </a:t>
            </a:r>
            <a:r>
              <a:rPr sz="1200" dirty="0" smtClean="0"/>
              <a:t>3.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Stage </a:t>
            </a:r>
            <a:r>
              <a:rPr sz="1200" dirty="0"/>
              <a:t>2 (</a:t>
            </a:r>
            <a:r>
              <a:rPr sz="1200" dirty="0" err="1"/>
              <a:t>Hr</a:t>
            </a:r>
            <a:r>
              <a:rPr sz="1200" dirty="0"/>
              <a:t> 24): 29.0% (LOW) | Dwell accumulation starts </a:t>
            </a:r>
            <a:r>
              <a:rPr sz="1200" dirty="0" smtClean="0"/>
              <a:t>drift.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Stage </a:t>
            </a:r>
            <a:r>
              <a:rPr sz="1200" dirty="0"/>
              <a:t>3 (</a:t>
            </a:r>
            <a:r>
              <a:rPr sz="1200" dirty="0" err="1"/>
              <a:t>Hr</a:t>
            </a:r>
            <a:r>
              <a:rPr sz="1200" dirty="0"/>
              <a:t> 48): 43.0% (MOD) | Crosses CDC Day 3. Priority </a:t>
            </a:r>
            <a:r>
              <a:rPr sz="1200" dirty="0" smtClean="0"/>
              <a:t>2.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Stage </a:t>
            </a:r>
            <a:r>
              <a:rPr sz="1200" dirty="0"/>
              <a:t>4 (</a:t>
            </a:r>
            <a:r>
              <a:rPr sz="1200" dirty="0" err="1"/>
              <a:t>Hr</a:t>
            </a:r>
            <a:r>
              <a:rPr sz="1200" dirty="0"/>
              <a:t> 54): 61.0% (HIGH) | Velocity +22%/12h trips alert. </a:t>
            </a:r>
            <a:r>
              <a:rPr sz="1200" dirty="0" smtClean="0"/>
              <a:t>P1.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Stage </a:t>
            </a:r>
            <a:r>
              <a:rPr sz="1200" dirty="0"/>
              <a:t>5 (</a:t>
            </a:r>
            <a:r>
              <a:rPr sz="1200" dirty="0" err="1"/>
              <a:t>Hr</a:t>
            </a:r>
            <a:r>
              <a:rPr sz="1200" dirty="0"/>
              <a:t> 60): 82.0% (CRIT) | CVC (+0.84), Temp (+0.62). </a:t>
            </a:r>
            <a:r>
              <a:rPr sz="1200" dirty="0" smtClean="0"/>
              <a:t>P1.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Stage </a:t>
            </a:r>
            <a:r>
              <a:rPr sz="1200" dirty="0"/>
              <a:t>6 (</a:t>
            </a:r>
            <a:r>
              <a:rPr sz="1200" dirty="0" err="1"/>
              <a:t>Hr</a:t>
            </a:r>
            <a:r>
              <a:rPr sz="1200" dirty="0"/>
              <a:t> 66): 84.0% (CRIT) | ICU-A Beds 04-07 co-escalate -&gt; Cluster Signal + Priority Rounding </a:t>
            </a:r>
            <a:r>
              <a:rPr sz="1200" dirty="0" smtClean="0"/>
              <a:t>List.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Controller</a:t>
            </a:r>
            <a:r>
              <a:rPr sz="1200" dirty="0"/>
              <a:t>: [ RUN DEMO ]  [ PAUSE ]  [ STEP ]  [ RESET ] (100% Offline)</a:t>
            </a:r>
          </a:p>
        </p:txBody>
      </p:sp>
      <p:pic>
        <p:nvPicPr>
          <p:cNvPr id="26" name="Picture 25" descr="02_demo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72887"/>
            <a:ext cx="6126480" cy="35661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7" name="TextBox 26"/>
          <p:cNvSpPr txBox="1"/>
          <p:nvPr/>
        </p:nvSpPr>
        <p:spPr>
          <a:xfrm>
            <a:off x="5577840" y="5024521"/>
            <a:ext cx="612648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rPr dirty="0"/>
              <a:t>LIVE 90-SECOND DETERMINISTIC DEMO CONTROLLER (/demo)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463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HAI-SENTINEL | Explainable AI Prevention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57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</a:defRPr>
            </a:pPr>
            <a:r>
              <a:t>PREDICT -&gt; EXPLAIN -&gt; TRACK -&gt; PRIORITIZE -&gt; PREVENT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 smtClean="0"/>
              <a:t>Designed </a:t>
            </a:r>
            <a:r>
              <a:rPr dirty="0"/>
              <a:t>as a leakage-resistant, modular clinical AI platform</a:t>
            </a:r>
            <a:r>
              <a:rPr dirty="0" smtClean="0"/>
              <a:t>.</a:t>
            </a:r>
            <a:endParaRPr dirty="0"/>
          </a:p>
          <a:p>
            <a:pPr>
              <a:defRPr sz="1100">
                <a:solidFill>
                  <a:srgbClr val="38BDF8"/>
                </a:solidFill>
              </a:defRPr>
            </a:pPr>
            <a:r>
              <a:rPr sz="1200" dirty="0"/>
              <a:t>Five-Tier Enterprise Architecture: Ingestion, Causal Features, ML, APIs, and UI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29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87477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rPr dirty="0"/>
              <a:t>OMNI_BIOTECH_9 • HOSPITAL-ACQUIRED INFECTIONS  |  </a:t>
            </a:r>
            <a:r>
              <a:rPr dirty="0" smtClean="0"/>
              <a:t>100</a:t>
            </a:r>
            <a:r>
              <a:rPr dirty="0"/>
              <a:t>% AIR-GAPPED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11277295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420512"/>
            <a:ext cx="11002975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38BDF8"/>
                </a:solidFill>
              </a:defRPr>
            </a:pPr>
            <a:r>
              <a:rPr sz="1200" dirty="0"/>
              <a:t>LAYER 1: CLINICAL INGESTION &amp; EHR BOUNDS CLEANING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100" dirty="0"/>
              <a:t>Ingests hourly vitals, laboratory telemetry, and invasive device exposure hours (CVC, Foley, Vent). Enforces physiological bounds (Temp 30–45°C, HR 20–300 bpm, SpO2 50–100%) and imputes </a:t>
            </a:r>
            <a:r>
              <a:rPr sz="1100" dirty="0" err="1"/>
              <a:t>missingness</a:t>
            </a:r>
            <a:r>
              <a:rPr sz="1100" dirty="0"/>
              <a:t> with backward forward-fill.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85416"/>
            <a:ext cx="11277295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197486"/>
            <a:ext cx="11002975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38BDF8"/>
                </a:solidFill>
              </a:defRPr>
            </a:pPr>
            <a:r>
              <a:rPr sz="1200" dirty="0"/>
              <a:t>LAYER 2: CAUSAL BACKWARD-LOOKING TEMPORAL FEATURE ENGINE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100" dirty="0"/>
              <a:t>Computes rolling 12h means, 24h deltas, and least-squares linear slopes (</a:t>
            </a:r>
            <a:r>
              <a:rPr sz="1100" dirty="0" err="1"/>
              <a:t>DeltaTemp</a:t>
            </a:r>
            <a:r>
              <a:rPr sz="1100" dirty="0"/>
              <a:t>/</a:t>
            </a:r>
            <a:r>
              <a:rPr sz="1100" dirty="0" err="1"/>
              <a:t>Deltat</a:t>
            </a:r>
            <a:r>
              <a:rPr sz="1100" dirty="0"/>
              <a:t>, </a:t>
            </a:r>
            <a:r>
              <a:rPr sz="1100" dirty="0" err="1"/>
              <a:t>DeltaWBC</a:t>
            </a:r>
            <a:r>
              <a:rPr sz="1100" dirty="0"/>
              <a:t>/</a:t>
            </a:r>
            <a:r>
              <a:rPr sz="1100" dirty="0" err="1"/>
              <a:t>Deltat</a:t>
            </a:r>
            <a:r>
              <a:rPr sz="1100" dirty="0"/>
              <a:t>). STRICT ZERO LEAKAGE: Slices strictly within historical interval [t-24h, t]. No future </a:t>
            </a:r>
            <a:r>
              <a:rPr sz="1100" dirty="0" err="1"/>
              <a:t>lookahead</a:t>
            </a:r>
            <a:r>
              <a:rPr sz="1100"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53512"/>
            <a:ext cx="11277295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956704"/>
            <a:ext cx="11002975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38BDF8"/>
                </a:solidFill>
              </a:defRPr>
            </a:pPr>
            <a:r>
              <a:rPr sz="1200" dirty="0"/>
              <a:t>LAYER 3: CALIBRATED MACHINE LEARNING &amp; EXPLAINABILITY ENGINE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100" dirty="0"/>
              <a:t>Tuned Gradient-Boosted Decision Trees (</a:t>
            </a:r>
            <a:r>
              <a:rPr sz="1100" dirty="0" err="1"/>
              <a:t>XGBoost</a:t>
            </a:r>
            <a:r>
              <a:rPr sz="1100" dirty="0"/>
              <a:t>) + Isotonic Probability Calibration (ECE 0.0097, Brier 0.0102). Integrated </a:t>
            </a:r>
            <a:r>
              <a:rPr sz="1100" dirty="0" err="1"/>
              <a:t>TreeSHAP</a:t>
            </a:r>
            <a:r>
              <a:rPr sz="1100" dirty="0"/>
              <a:t> explainer computes exact additive attribution vectors grouped by domain.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21608"/>
            <a:ext cx="11277295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733678"/>
            <a:ext cx="11002975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38BDF8"/>
                </a:solidFill>
              </a:defRPr>
            </a:pPr>
            <a:r>
              <a:rPr sz="1200" dirty="0"/>
              <a:t>LAYER 4: BACKEND REST API GATEWAY &amp; PERSISTENT DATABASE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100" dirty="0"/>
              <a:t>High-performance </a:t>
            </a:r>
            <a:r>
              <a:rPr sz="1100" dirty="0" err="1"/>
              <a:t>FastAPI</a:t>
            </a:r>
            <a:r>
              <a:rPr sz="1100" dirty="0"/>
              <a:t> </a:t>
            </a:r>
            <a:r>
              <a:rPr sz="1100" dirty="0" err="1"/>
              <a:t>async</a:t>
            </a:r>
            <a:r>
              <a:rPr sz="1100" dirty="0"/>
              <a:t> engine with </a:t>
            </a:r>
            <a:r>
              <a:rPr sz="1100" dirty="0" err="1"/>
              <a:t>SQLAlchemy</a:t>
            </a:r>
            <a:r>
              <a:rPr sz="1100" dirty="0"/>
              <a:t> 2.0 ORM, </a:t>
            </a:r>
            <a:r>
              <a:rPr sz="1100" dirty="0" err="1"/>
              <a:t>Pydantic</a:t>
            </a:r>
            <a:r>
              <a:rPr sz="1100" dirty="0"/>
              <a:t> v2 schemas, and SQLite / PostgreSQL. Endpoints: /</a:t>
            </a:r>
            <a:r>
              <a:rPr sz="1100" dirty="0" err="1"/>
              <a:t>api</a:t>
            </a:r>
            <a:r>
              <a:rPr sz="1100" dirty="0"/>
              <a:t>/dashboard, /</a:t>
            </a:r>
            <a:r>
              <a:rPr sz="1100" dirty="0" err="1"/>
              <a:t>api</a:t>
            </a:r>
            <a:r>
              <a:rPr sz="1100" dirty="0"/>
              <a:t>/patients, /</a:t>
            </a:r>
            <a:r>
              <a:rPr sz="1100" dirty="0" err="1"/>
              <a:t>api</a:t>
            </a:r>
            <a:r>
              <a:rPr sz="1100" dirty="0"/>
              <a:t>/patients/{id}/risk, /</a:t>
            </a:r>
            <a:r>
              <a:rPr sz="1100" dirty="0" err="1"/>
              <a:t>api</a:t>
            </a:r>
            <a:r>
              <a:rPr sz="1100" dirty="0"/>
              <a:t>/wards, /</a:t>
            </a:r>
            <a:r>
              <a:rPr sz="1100" dirty="0" err="1"/>
              <a:t>api</a:t>
            </a:r>
            <a:r>
              <a:rPr sz="1100" dirty="0"/>
              <a:t>/clusters, /</a:t>
            </a:r>
            <a:r>
              <a:rPr sz="1100" dirty="0" err="1"/>
              <a:t>api</a:t>
            </a:r>
            <a:r>
              <a:rPr sz="1100" dirty="0"/>
              <a:t>/audit, /</a:t>
            </a:r>
            <a:r>
              <a:rPr sz="1100" dirty="0" err="1"/>
              <a:t>api</a:t>
            </a:r>
            <a:r>
              <a:rPr sz="1100" dirty="0"/>
              <a:t>/demo.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89704"/>
            <a:ext cx="11277295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59" y="4510652"/>
            <a:ext cx="11002975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38BDF8"/>
                </a:solidFill>
              </a:defRPr>
            </a:pPr>
            <a:r>
              <a:rPr sz="1200" dirty="0"/>
              <a:t>LAYER 5: REACT 18 INTELLIGENCE COMMAND CENTER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100" dirty="0" err="1"/>
              <a:t>TypeScript</a:t>
            </a:r>
            <a:r>
              <a:rPr sz="1100" dirty="0"/>
              <a:t> + Tailwind CSS + </a:t>
            </a:r>
            <a:r>
              <a:rPr sz="1100" dirty="0" err="1"/>
              <a:t>Recharts</a:t>
            </a:r>
            <a:r>
              <a:rPr sz="1100" dirty="0"/>
              <a:t> visualizer. Features: Executive KPI Dashboard, Patient Risk Trajectory, Spatial Bed Matrix, Cluster Radar, What-If Simulator, Audit Ledger, and Deterministic Demo</a:t>
            </a:r>
            <a:r>
              <a:rPr dirty="0"/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03520"/>
            <a:ext cx="1127729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5413248"/>
            <a:ext cx="110029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200" b="1" dirty="0"/>
              <a:t>ARCHITECTURAL INTEGRITY: </a:t>
            </a:r>
            <a:r>
              <a:rPr sz="1200" dirty="0"/>
              <a:t>Clean separation of concerns ensures all data flows </a:t>
            </a:r>
            <a:r>
              <a:rPr sz="1200" dirty="0" err="1"/>
              <a:t>unidirectionally</a:t>
            </a:r>
            <a:r>
              <a:rPr sz="1200" dirty="0"/>
              <a:t> from telemetry ingestion to UI presentation with zero data leakage across pipeline stages.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463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HAI-SENTINEL | Explainable AI Prevention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57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</a:defRPr>
            </a:pPr>
            <a:r>
              <a:t>PREDICT -&gt; EXPLAIN -&gt; TRACK -&gt; PRIORITIZE -&gt; PREVENT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 smtClean="0"/>
              <a:t>Clinical </a:t>
            </a:r>
            <a:r>
              <a:rPr dirty="0"/>
              <a:t>AI credibility depends on preventing leakage</a:t>
            </a:r>
            <a:r>
              <a:rPr dirty="0" smtClean="0"/>
              <a:t>.</a:t>
            </a:r>
            <a:endParaRPr dirty="0"/>
          </a:p>
          <a:p>
            <a:pPr>
              <a:defRPr sz="1100">
                <a:solidFill>
                  <a:srgbClr val="38BDF8"/>
                </a:solidFill>
              </a:defRPr>
            </a:pPr>
            <a:r>
              <a:rPr sz="1200" dirty="0"/>
              <a:t>Mathematical &amp; Structural Proofs of Anti-Leakage Partition Isolation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29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87477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rPr dirty="0"/>
              <a:t>OMNI_BIOTECH_9 • HOSPITAL-ACQUIRED INFECTIONS  |  </a:t>
            </a:r>
            <a:r>
              <a:rPr dirty="0" smtClean="0"/>
              <a:t>100</a:t>
            </a:r>
            <a:r>
              <a:rPr dirty="0"/>
              <a:t>% AIR-GAPPED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347472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572768"/>
            <a:ext cx="32004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38BDF8"/>
                </a:solidFill>
              </a:defRPr>
            </a:pPr>
            <a:r>
              <a:rPr sz="1600" dirty="0"/>
              <a:t>01 • Patient Grouped Split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Enforced </a:t>
            </a:r>
            <a:r>
              <a:rPr sz="1200" dirty="0"/>
              <a:t>via </a:t>
            </a:r>
            <a:r>
              <a:rPr sz="1200" dirty="0" err="1"/>
              <a:t>GroupShuffleSplit</a:t>
            </a:r>
            <a:r>
              <a:rPr sz="1200" dirty="0"/>
              <a:t> on </a:t>
            </a:r>
            <a:r>
              <a:rPr sz="1200" dirty="0" err="1"/>
              <a:t>patient_id</a:t>
            </a:r>
            <a:r>
              <a:rPr sz="1200" dirty="0"/>
              <a:t> (70% Train, 15% Val, 15% Test</a:t>
            </a:r>
            <a:r>
              <a:rPr sz="1200" dirty="0" smtClean="0"/>
              <a:t>).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Zero </a:t>
            </a:r>
            <a:r>
              <a:rPr sz="1200" dirty="0"/>
              <a:t>individual patient observations or trajectory slices cross partition </a:t>
            </a:r>
            <a:r>
              <a:rPr sz="1200" dirty="0" smtClean="0"/>
              <a:t>boundaries.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Test </a:t>
            </a:r>
            <a:r>
              <a:rPr sz="1200" dirty="0"/>
              <a:t>metrics evaluate genuine unseen generalizability across independent patients.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47472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572768"/>
            <a:ext cx="32004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0B981"/>
                </a:solidFill>
              </a:defRPr>
            </a:pPr>
            <a:r>
              <a:rPr sz="1600" dirty="0"/>
              <a:t>02 • Causal Backward Windows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All </a:t>
            </a:r>
            <a:r>
              <a:rPr sz="1200" dirty="0"/>
              <a:t>rolling statistics and regression slopes at timestamp t derive strictly from [t-24h, t</a:t>
            </a:r>
            <a:r>
              <a:rPr sz="1200" dirty="0" smtClean="0"/>
              <a:t>].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Zero </a:t>
            </a:r>
            <a:r>
              <a:rPr sz="1200" dirty="0"/>
              <a:t>future observations, downstream culture confirmations, or post-infection antibiotic treatments enter feature </a:t>
            </a:r>
            <a:r>
              <a:rPr sz="1200" dirty="0" smtClean="0"/>
              <a:t>matrices.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err="1" smtClean="0"/>
              <a:t>Lookahead</a:t>
            </a:r>
            <a:r>
              <a:rPr sz="1200" dirty="0" smtClean="0"/>
              <a:t> </a:t>
            </a:r>
            <a:r>
              <a:rPr sz="1200" dirty="0"/>
              <a:t>bias is identically zero.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47472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572768"/>
            <a:ext cx="32004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A855F7"/>
                </a:solidFill>
              </a:defRPr>
            </a:pPr>
            <a:r>
              <a:rPr sz="1600" dirty="0"/>
              <a:t>03 • Uncertainty Scaling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Real-time </a:t>
            </a:r>
            <a:r>
              <a:rPr sz="1200" dirty="0"/>
              <a:t>data completeness score (98.4%) dynamically scales output uncertainty intervals (+-5% to +-18</a:t>
            </a:r>
            <a:r>
              <a:rPr sz="1200" dirty="0" smtClean="0"/>
              <a:t>%).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Telemetry </a:t>
            </a:r>
            <a:r>
              <a:rPr sz="1200" dirty="0" err="1"/>
              <a:t>missingness</a:t>
            </a:r>
            <a:r>
              <a:rPr sz="1200" dirty="0"/>
              <a:t> automatically widens uncertainty </a:t>
            </a:r>
            <a:r>
              <a:rPr sz="1200" dirty="0" smtClean="0"/>
              <a:t>margins.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Prevents </a:t>
            </a:r>
            <a:r>
              <a:rPr sz="1200" dirty="0"/>
              <a:t>overconfident false alerts under missing lab feeds.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03520"/>
            <a:ext cx="1127729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5413248"/>
            <a:ext cx="110029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200" b="1" dirty="0"/>
              <a:t>MATHEMATICAL PROOF OF CAUSALITY: </a:t>
            </a:r>
            <a:r>
              <a:rPr sz="1200" dirty="0"/>
              <a:t>Let feature vector X(t) = psi(S_&lt;=t), where S_&lt;=t denotes the observation sequence up to time t. Because </a:t>
            </a:r>
            <a:r>
              <a:rPr sz="1200" dirty="0" err="1"/>
              <a:t>dX</a:t>
            </a:r>
            <a:r>
              <a:rPr sz="1200" dirty="0"/>
              <a:t>(t) / </a:t>
            </a:r>
            <a:r>
              <a:rPr sz="1200" dirty="0" err="1"/>
              <a:t>dS</a:t>
            </a:r>
            <a:r>
              <a:rPr sz="1200" dirty="0"/>
              <a:t>_&gt;t is identically zero, future </a:t>
            </a:r>
            <a:r>
              <a:rPr sz="1200" dirty="0" err="1"/>
              <a:t>lookahead</a:t>
            </a:r>
            <a:r>
              <a:rPr sz="1200" dirty="0"/>
              <a:t> bias is mathematically eliminated.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463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HAI-SENTINEL | Explainable AI Prevention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57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</a:defRPr>
            </a:pPr>
            <a:r>
              <a:t>PREDICT -&gt; EXPLAIN -&gt; TRACK -&gt; PRIORITIZE -&gt; PREVENT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 smtClean="0"/>
              <a:t>Validation </a:t>
            </a:r>
            <a:r>
              <a:rPr dirty="0"/>
              <a:t>on unseen patients demonstrates strong predictive and calibration performance</a:t>
            </a:r>
            <a:r>
              <a:rPr dirty="0" smtClean="0"/>
              <a:t>.</a:t>
            </a:r>
            <a:endParaRPr dirty="0"/>
          </a:p>
          <a:p>
            <a:pPr>
              <a:defRPr sz="1100">
                <a:solidFill>
                  <a:srgbClr val="38BDF8"/>
                </a:solidFill>
              </a:defRPr>
            </a:pPr>
            <a:r>
              <a:rPr sz="1200" dirty="0"/>
              <a:t>Empirical Metric Transparency Across 3 Evaluated Model Architectures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29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87477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rPr dirty="0"/>
              <a:t>OMNI_BIOTECH_9 • HOSPITAL-ACQUIRED INFECTIONS  |  </a:t>
            </a:r>
            <a:r>
              <a:rPr dirty="0" smtClean="0"/>
              <a:t>100</a:t>
            </a:r>
            <a:r>
              <a:rPr dirty="0"/>
              <a:t>% AIR-GAPPED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347472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1915" y="1637541"/>
            <a:ext cx="3200400" cy="330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0B981"/>
                </a:solidFill>
              </a:defRPr>
            </a:pPr>
            <a:r>
              <a:rPr lang="en-IN" sz="1600" dirty="0"/>
              <a:t>Empirical Benchmark Results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lang="en-IN" sz="1200" b="1" dirty="0" err="1" smtClean="0"/>
              <a:t>XGBoost</a:t>
            </a:r>
            <a:r>
              <a:rPr lang="en-IN" sz="1200" b="1" dirty="0" smtClean="0"/>
              <a:t> </a:t>
            </a:r>
            <a:r>
              <a:rPr lang="en-IN" sz="1200" b="1" dirty="0"/>
              <a:t>(Calibrated Primary):</a:t>
            </a:r>
          </a:p>
          <a:p>
            <a:pPr marL="628650" lvl="1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lang="en-IN" sz="1200" dirty="0" smtClean="0"/>
              <a:t>AUROC</a:t>
            </a:r>
            <a:r>
              <a:rPr lang="en-IN" sz="1200" dirty="0"/>
              <a:t>: 0.9695 | AUPRC: </a:t>
            </a:r>
            <a:r>
              <a:rPr lang="en-IN" sz="1200" dirty="0" smtClean="0"/>
              <a:t>0.8877</a:t>
            </a:r>
          </a:p>
          <a:p>
            <a:pPr marL="628650" lvl="1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lang="en-IN" sz="1200" dirty="0" smtClean="0"/>
              <a:t>F1-Score</a:t>
            </a:r>
            <a:r>
              <a:rPr lang="en-IN" sz="1200" dirty="0"/>
              <a:t>: 0.8608 | Sens @ 85% Spec: </a:t>
            </a:r>
            <a:r>
              <a:rPr lang="en-IN" sz="1200" dirty="0" smtClean="0"/>
              <a:t>0.9417</a:t>
            </a:r>
          </a:p>
          <a:p>
            <a:pPr marL="628650" lvl="1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lang="en-IN" sz="1200" dirty="0" smtClean="0"/>
              <a:t>Brier </a:t>
            </a:r>
            <a:r>
              <a:rPr lang="en-IN" sz="1200" dirty="0"/>
              <a:t>Score: 0.0102 | ECE: 0.0097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lang="en-IN" sz="1200" b="1" dirty="0" smtClean="0"/>
              <a:t>Random </a:t>
            </a:r>
            <a:r>
              <a:rPr lang="en-IN" sz="1200" b="1" dirty="0"/>
              <a:t>Forest Ensemble:</a:t>
            </a:r>
          </a:p>
          <a:p>
            <a:pPr marL="628650" lvl="1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lang="en-IN" sz="1200" dirty="0" smtClean="0"/>
              <a:t>AUROC</a:t>
            </a:r>
            <a:r>
              <a:rPr lang="en-IN" sz="1200" dirty="0"/>
              <a:t>: 0.9756 | AUPRC: 0.8609 | ECE: 0.0184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lang="en-IN" sz="1200" b="1" dirty="0" smtClean="0"/>
              <a:t>Logistic </a:t>
            </a:r>
            <a:r>
              <a:rPr lang="en-IN" sz="1200" b="1" dirty="0"/>
              <a:t>Regression Baseline:</a:t>
            </a:r>
          </a:p>
          <a:p>
            <a:pPr marL="628650" lvl="1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lang="en-IN" sz="1200" dirty="0" smtClean="0"/>
              <a:t>AUROC</a:t>
            </a:r>
            <a:r>
              <a:rPr lang="en-IN" sz="1200" dirty="0"/>
              <a:t>: 0.9481 | AUPRC: 0.7698 | ECE: 0.0241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lang="en-IN" sz="1200" b="1" dirty="0" smtClean="0"/>
              <a:t>Why </a:t>
            </a:r>
            <a:r>
              <a:rPr lang="en-IN" sz="1200" b="1" dirty="0" err="1"/>
              <a:t>XGBoost</a:t>
            </a:r>
            <a:r>
              <a:rPr lang="en-IN" sz="1200" b="1" dirty="0"/>
              <a:t> was chosen: </a:t>
            </a:r>
            <a:r>
              <a:rPr lang="en-IN" sz="1200" dirty="0"/>
              <a:t>Balances highest AUPRC (0.8877), lowest Brier error, superior calibration (ECE 0.0097), and fast </a:t>
            </a:r>
            <a:r>
              <a:rPr lang="en-IN" sz="1200" dirty="0" err="1"/>
              <a:t>TreeSHAP</a:t>
            </a:r>
            <a:r>
              <a:rPr lang="en-IN" sz="1200" dirty="0"/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03520"/>
            <a:ext cx="1127729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5413248"/>
            <a:ext cx="110029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200" b="1" dirty="0"/>
              <a:t>SELECTION JUSTIFICATION: </a:t>
            </a:r>
            <a:r>
              <a:rPr sz="1200" dirty="0" err="1"/>
              <a:t>XGBoost</a:t>
            </a:r>
            <a:r>
              <a:rPr sz="1200" dirty="0"/>
              <a:t> was selected because it balances high discrimination with the highest AUPRC (0.8877), lowest Brier score (0.0102), superior calibration (ECE 0.0097), and 4x faster </a:t>
            </a:r>
            <a:r>
              <a:rPr sz="1200" dirty="0" err="1"/>
              <a:t>TreeSHAP</a:t>
            </a:r>
            <a:r>
              <a:rPr sz="1200" dirty="0"/>
              <a:t> execution.</a:t>
            </a:r>
          </a:p>
        </p:txBody>
      </p:sp>
      <p:pic>
        <p:nvPicPr>
          <p:cNvPr id="19" name="Picture 18" descr="viz_model_calibration_roc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334" y="1331238"/>
            <a:ext cx="6242947" cy="363395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940333" y="4948977"/>
            <a:ext cx="6242947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rPr dirty="0"/>
              <a:t>PRECISION-RECALL &amp; ISOTONIC RELIABILITY CALIBRATION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463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HAI-SENTINEL | Explainable AI Prevention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57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</a:defRPr>
            </a:pPr>
            <a:r>
              <a:t>PREDICT -&gt; EXPLAIN -&gt; TRACK -&gt; PRIORITIZE -&gt; PREVENT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 smtClean="0"/>
              <a:t>Validation </a:t>
            </a:r>
            <a:r>
              <a:rPr dirty="0"/>
              <a:t>is built around patient-level separation and clinically grounded labeling</a:t>
            </a:r>
            <a:r>
              <a:rPr dirty="0" smtClean="0"/>
              <a:t>.</a:t>
            </a:r>
            <a:endParaRPr dirty="0"/>
          </a:p>
          <a:p>
            <a:pPr>
              <a:defRPr sz="1100">
                <a:solidFill>
                  <a:srgbClr val="38BDF8"/>
                </a:solidFill>
              </a:defRPr>
            </a:pPr>
            <a:r>
              <a:rPr sz="1200" dirty="0"/>
              <a:t>Cohort Generation, Physiological Realism &amp; De-Identification Safeguards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29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87477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rPr dirty="0"/>
              <a:t>OMNI_BIOTECH_9 • HOSPITAL-ACQUIRED INFECTIONS  |  </a:t>
            </a:r>
            <a:r>
              <a:rPr dirty="0" smtClean="0"/>
              <a:t>100</a:t>
            </a:r>
            <a:r>
              <a:rPr dirty="0"/>
              <a:t>% AIR-GAPPED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26974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572768"/>
            <a:ext cx="2423160" cy="79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38BDF8"/>
                </a:solidFill>
              </a:defRPr>
            </a:pPr>
            <a:r>
              <a:rPr sz="1400" dirty="0"/>
              <a:t>250 PATIENTS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Synthetic Cohort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De-identified </a:t>
            </a:r>
            <a:r>
              <a:rPr sz="1200" dirty="0"/>
              <a:t>ICU patient stays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463040"/>
            <a:ext cx="26974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1572768"/>
            <a:ext cx="2423160" cy="79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0B981"/>
                </a:solidFill>
              </a:defRPr>
            </a:pPr>
            <a:r>
              <a:rPr sz="1400" dirty="0"/>
              <a:t>21,358 RECORDS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Longitudinal Telemetry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Hourly </a:t>
            </a:r>
            <a:r>
              <a:rPr sz="1200" dirty="0"/>
              <a:t>vital &amp; lab observations.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463040"/>
            <a:ext cx="26974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572768"/>
            <a:ext cx="2423160" cy="79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F59E0B"/>
                </a:solidFill>
              </a:defRPr>
            </a:pPr>
            <a:r>
              <a:rPr sz="1400" dirty="0"/>
              <a:t>168 HOURS MAX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ICU </a:t>
            </a:r>
            <a:r>
              <a:rPr sz="1200" dirty="0"/>
              <a:t>Length of </a:t>
            </a:r>
            <a:r>
              <a:rPr sz="1200" dirty="0" smtClean="0"/>
              <a:t>Stay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Multi-day </a:t>
            </a:r>
            <a:r>
              <a:rPr sz="1200" dirty="0"/>
              <a:t>longitudinal horizons</a:t>
            </a:r>
            <a:r>
              <a:rPr dirty="0"/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463040"/>
            <a:ext cx="26974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98280" y="1572768"/>
            <a:ext cx="242316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A855F7"/>
                </a:solidFill>
              </a:defRPr>
            </a:pPr>
            <a:r>
              <a:rPr sz="1400" dirty="0"/>
              <a:t>0% PHI (DE-ID)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HIPAA Compliance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Zero </a:t>
            </a:r>
            <a:r>
              <a:rPr sz="1200" dirty="0"/>
              <a:t>protected health information</a:t>
            </a:r>
            <a:r>
              <a:rPr dirty="0"/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53949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218688"/>
            <a:ext cx="5120640" cy="1161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38BDF8"/>
                </a:solidFill>
              </a:defRPr>
            </a:pPr>
            <a:r>
              <a:rPr sz="1400" dirty="0"/>
              <a:t>Physiological Vital Autocorrelation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Longitudinal </a:t>
            </a:r>
            <a:r>
              <a:rPr sz="1200" dirty="0"/>
              <a:t>hourly vitals modeled with stochastic Gaussian random walks, physiological bounds, and cross-variable correlations (e.g. pyrexia induces tachycardia and tachypnea</a:t>
            </a:r>
            <a:r>
              <a:rPr sz="1200" dirty="0" smtClean="0"/>
              <a:t>).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Invasive </a:t>
            </a:r>
            <a:r>
              <a:rPr sz="1200" dirty="0"/>
              <a:t>device exposure hours (CVC, Foley, Vent) accumulate dynamically.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108960"/>
            <a:ext cx="53949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218688"/>
            <a:ext cx="51206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0B981"/>
                </a:solidFill>
              </a:defRPr>
            </a:pPr>
            <a:r>
              <a:rPr sz="1400" dirty="0"/>
              <a:t>Reproducibility &amp; De-Identification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All </a:t>
            </a:r>
            <a:r>
              <a:rPr sz="1200" dirty="0"/>
              <a:t>250 cohort patients, MRNs, and encounter IDs are synthetic de-identified </a:t>
            </a:r>
            <a:r>
              <a:rPr sz="1200" dirty="0" smtClean="0"/>
              <a:t>profiles.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Zero </a:t>
            </a:r>
            <a:r>
              <a:rPr sz="1200" dirty="0"/>
              <a:t>real patient records were extracted, strictly satisfying privacy and ethics </a:t>
            </a:r>
            <a:r>
              <a:rPr sz="1200" dirty="0" smtClean="0"/>
              <a:t>protocols.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Fully </a:t>
            </a:r>
            <a:r>
              <a:rPr sz="1200" dirty="0"/>
              <a:t>reproducible via scripts/generate_clinical_cohort.py.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303520"/>
            <a:ext cx="1127729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413248"/>
            <a:ext cx="110029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200" b="1" dirty="0"/>
              <a:t>RESEARCH TRANSPARENCY: </a:t>
            </a:r>
            <a:r>
              <a:rPr sz="1200" dirty="0"/>
              <a:t>The synthetic cohort faithfully mirrors real-world ICU vital autocorrelations and device accumulation while maintaining strict zero-PHI privacy compliance.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463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HAI-SENTINEL | Explainable AI Prevention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57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</a:defRPr>
            </a:pPr>
            <a:r>
              <a:t>PREDICT -&gt; EXPLAIN -&gt; TRACK -&gt; PRIORITIZE -&gt; PREVENT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 smtClean="0"/>
              <a:t>From </a:t>
            </a:r>
            <a:r>
              <a:rPr dirty="0"/>
              <a:t>architecture to a fully integrated offline command center</a:t>
            </a:r>
            <a:r>
              <a:rPr dirty="0" smtClean="0"/>
              <a:t>.</a:t>
            </a:r>
            <a:endParaRPr dirty="0"/>
          </a:p>
          <a:p>
            <a:pPr>
              <a:defRPr sz="1100">
                <a:solidFill>
                  <a:srgbClr val="38BDF8"/>
                </a:solidFill>
              </a:defRPr>
            </a:pPr>
            <a:r>
              <a:rPr sz="1200" dirty="0"/>
              <a:t>Concrete Deliverables &amp; Verified Implementation Milestones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29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87477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rPr dirty="0"/>
              <a:t>OMNI_BIOTECH_9 • HOSPITAL-ACQUIRED INFECTIONS  |  </a:t>
            </a:r>
            <a:r>
              <a:rPr dirty="0" smtClean="0"/>
              <a:t>100</a:t>
            </a:r>
            <a:r>
              <a:rPr dirty="0"/>
              <a:t>% AIR-GAPPED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1127729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456024"/>
            <a:ext cx="11002975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0B981"/>
                </a:solidFill>
              </a:defRPr>
            </a:pPr>
            <a:r>
              <a:rPr sz="1200" dirty="0"/>
              <a:t>Phase 1: Architecture &amp; Data Pipeline  —  [COMPLETED • 100% Verified]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050" dirty="0"/>
              <a:t>CDC NHSN cohort generation (250 pts, 21k </a:t>
            </a:r>
            <a:r>
              <a:rPr sz="1050" dirty="0" err="1"/>
              <a:t>obs</a:t>
            </a:r>
            <a:r>
              <a:rPr sz="1050" dirty="0"/>
              <a:t>), causal rolling feature engine, SQLite/PostgreSQL schemas.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057400"/>
            <a:ext cx="1127729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113860"/>
            <a:ext cx="1100297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0B981"/>
                </a:solidFill>
              </a:defRPr>
            </a:pPr>
            <a:r>
              <a:rPr sz="1200" dirty="0"/>
              <a:t>Phase 2: ML Training &amp; Calibration  —  [COMPLETED • AUROC 0.9695]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000" dirty="0"/>
              <a:t>Patient </a:t>
            </a:r>
            <a:r>
              <a:rPr sz="1000" dirty="0" err="1"/>
              <a:t>GroupShuffleSplit</a:t>
            </a:r>
            <a:r>
              <a:rPr sz="1000" dirty="0"/>
              <a:t>, </a:t>
            </a:r>
            <a:r>
              <a:rPr sz="1000" dirty="0" err="1"/>
              <a:t>XGBoost</a:t>
            </a:r>
            <a:r>
              <a:rPr sz="1000" dirty="0"/>
              <a:t>/RF/Logistic training, Isotonic calibration (ECE 0.0097), </a:t>
            </a:r>
            <a:r>
              <a:rPr sz="1000" dirty="0" err="1"/>
              <a:t>TreeSHAP</a:t>
            </a:r>
            <a:r>
              <a:rPr sz="1000"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97480"/>
            <a:ext cx="1127729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753940"/>
            <a:ext cx="1100297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0B981"/>
                </a:solidFill>
              </a:defRPr>
            </a:pPr>
            <a:r>
              <a:rPr sz="1200" dirty="0"/>
              <a:t>Phase 3: Dynamic Trajectory &amp; Radar  —  [COMPLETED • Tested]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000" dirty="0"/>
              <a:t>Discrete calculus (v12h, a12h), rapid escalation alerts, spatial ward risk density &amp; cluster radar algorithm.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37559"/>
            <a:ext cx="1127729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394019"/>
            <a:ext cx="1100297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0B981"/>
                </a:solidFill>
              </a:defRPr>
            </a:pPr>
            <a:r>
              <a:rPr sz="1200" dirty="0"/>
              <a:t>Phase 4: Full-Stack Command Center  —  [COMPLETED • Zero Build Errors]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000" dirty="0"/>
              <a:t>React 18 + </a:t>
            </a:r>
            <a:r>
              <a:rPr sz="1000" dirty="0" err="1"/>
              <a:t>Vite</a:t>
            </a:r>
            <a:r>
              <a:rPr sz="1000" dirty="0"/>
              <a:t> UI, </a:t>
            </a:r>
            <a:r>
              <a:rPr sz="1000" dirty="0" err="1"/>
              <a:t>Recharts</a:t>
            </a:r>
            <a:r>
              <a:rPr sz="1000" dirty="0"/>
              <a:t> trajectory visualization, What-If simulator, immutable audit trail ledger.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77639"/>
            <a:ext cx="1127729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042978"/>
            <a:ext cx="1100297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0B981"/>
                </a:solidFill>
              </a:defRPr>
            </a:pPr>
            <a:r>
              <a:rPr sz="1200" dirty="0"/>
              <a:t>Phase 5: Deterministic Hackathon Demo  —  [COMPLETED • /demo Live]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000" dirty="0"/>
              <a:t>Offline-ready 90s judge demo controller with playback controls, animated risk meters &amp; rounding list.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617720"/>
            <a:ext cx="11277295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665302"/>
            <a:ext cx="1100297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38BDF8"/>
                </a:solidFill>
              </a:defRPr>
            </a:pPr>
            <a:r>
              <a:rPr sz="1200" dirty="0"/>
              <a:t>Phase 6: Clinical Deployment Roadmap  —  [FUTURE / PROPOSED]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000" dirty="0"/>
              <a:t>FHIR / HL7 EHR connector pipeline, multicenter silent clinical validation, bedside tablet rollout.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303520"/>
            <a:ext cx="1127729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413248"/>
            <a:ext cx="110029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200" b="1" dirty="0"/>
              <a:t>DELIVERY STATUS: </a:t>
            </a:r>
            <a:r>
              <a:rPr sz="1200" dirty="0"/>
              <a:t>All 5 core software and ML phases are 100% implemented, automated-test verified (19/19 </a:t>
            </a:r>
            <a:r>
              <a:rPr sz="1200" dirty="0" err="1"/>
              <a:t>pytest</a:t>
            </a:r>
            <a:r>
              <a:rPr sz="1200" dirty="0"/>
              <a:t>, 4/4 </a:t>
            </a:r>
            <a:r>
              <a:rPr sz="1200" dirty="0" err="1"/>
              <a:t>vitest</a:t>
            </a:r>
            <a:r>
              <a:rPr sz="1200" dirty="0"/>
              <a:t>), and compiled for immediate offline demonstration.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463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HAI-SENTINEL | Explainable AI Prevention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57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</a:defRPr>
            </a:pPr>
            <a:r>
              <a:t>PREDICT -&gt; EXPLAIN -&gt; TRACK -&gt; PRIORITIZE -&gt; PREVENT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 smtClean="0"/>
              <a:t>An </a:t>
            </a:r>
            <a:r>
              <a:rPr dirty="0"/>
              <a:t>intelligence command center — not just a model</a:t>
            </a:r>
            <a:r>
              <a:rPr dirty="0" smtClean="0"/>
              <a:t>.</a:t>
            </a:r>
            <a:endParaRPr dirty="0"/>
          </a:p>
          <a:p>
            <a:pPr>
              <a:defRPr sz="1100">
                <a:solidFill>
                  <a:srgbClr val="38BDF8"/>
                </a:solidFill>
              </a:defRPr>
            </a:pPr>
            <a:r>
              <a:rPr sz="1200" dirty="0"/>
              <a:t>Six Core Operational Interfaces Built for Clinical Infection-Prevention Teams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29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87477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rPr dirty="0"/>
              <a:t>OMNI_BIOTECH_9 • HOSPITAL-ACQUIRED INFECTIONS  |  </a:t>
            </a:r>
            <a:r>
              <a:rPr dirty="0" smtClean="0"/>
              <a:t>100</a:t>
            </a:r>
            <a:r>
              <a:rPr dirty="0"/>
              <a:t>% AIR-GAPPED READY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918061"/>
            <a:ext cx="11277295" cy="41683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59" y="5987980"/>
            <a:ext cx="110029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lang="en-US" sz="1200" b="1" dirty="0"/>
              <a:t>AUTHENTIC APPLICATION CAPTURE: </a:t>
            </a:r>
            <a:r>
              <a:rPr lang="en-US" sz="1200" dirty="0"/>
              <a:t>Built with React 18, </a:t>
            </a:r>
            <a:r>
              <a:rPr lang="en-US" sz="1200" dirty="0" err="1"/>
              <a:t>TypeScript</a:t>
            </a:r>
            <a:r>
              <a:rPr lang="en-US" sz="1200" dirty="0"/>
              <a:t>, Tailwind CSS, and </a:t>
            </a:r>
            <a:r>
              <a:rPr lang="en-US" sz="1200" dirty="0" err="1"/>
              <a:t>Recharts</a:t>
            </a:r>
            <a:r>
              <a:rPr lang="en-US" sz="1200" dirty="0"/>
              <a:t>. Live running interfaces.</a:t>
            </a:r>
          </a:p>
        </p:txBody>
      </p:sp>
      <p:pic>
        <p:nvPicPr>
          <p:cNvPr id="24" name="Picture 23" descr="03_patient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67201"/>
            <a:ext cx="5303520" cy="21945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5" name="Picture 24" descr="05_cluster_ra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48358"/>
            <a:ext cx="5303520" cy="2194560"/>
          </a:xfrm>
          <a:prstGeom prst="rect">
            <a:avLst/>
          </a:prstGeom>
        </p:spPr>
      </p:pic>
      <p:pic>
        <p:nvPicPr>
          <p:cNvPr id="27" name="Picture 26" descr="07_scenario_simul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06522"/>
            <a:ext cx="5303520" cy="2103120"/>
          </a:xfrm>
          <a:prstGeom prst="rect">
            <a:avLst/>
          </a:prstGeom>
        </p:spPr>
      </p:pic>
      <p:pic>
        <p:nvPicPr>
          <p:cNvPr id="28" name="Picture 27" descr="08_audit_tr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7307" y="3606522"/>
            <a:ext cx="5303520" cy="21031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02920" y="3342575"/>
            <a:ext cx="530352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rPr dirty="0"/>
              <a:t>1. DYNAMIC TRAJECTORY &amp; TREESHAP WATERFALL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317431"/>
            <a:ext cx="530352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rPr dirty="0"/>
              <a:t>2. SPATIAL CLUSTER ANOMALY RADAR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1" y="5676635"/>
            <a:ext cx="5303519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rPr dirty="0"/>
              <a:t>3. WHAT-IF NON-CAUSAL SCENARIO SIMULATOR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7306" y="5676635"/>
            <a:ext cx="530352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rPr dirty="0"/>
              <a:t>4. IMMUTABLE CLINICAL AUDIT TRAIL LEDGER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463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HAI-SENTINEL | Explainable AI Prevention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57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</a:defRPr>
            </a:pPr>
            <a:r>
              <a:t>PREDICT -&gt; EXPLAIN -&gt; TRACK -&gt; PRIORITIZE -&gt; PREVENT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 smtClean="0"/>
              <a:t>Built </a:t>
            </a:r>
            <a:r>
              <a:rPr dirty="0"/>
              <a:t>with clinical restraint: assist decisions, never replace them</a:t>
            </a:r>
            <a:r>
              <a:rPr dirty="0" smtClean="0"/>
              <a:t>.</a:t>
            </a:r>
            <a:endParaRPr dirty="0"/>
          </a:p>
          <a:p>
            <a:pPr>
              <a:defRPr sz="1100">
                <a:solidFill>
                  <a:srgbClr val="38BDF8"/>
                </a:solidFill>
              </a:defRPr>
            </a:pPr>
            <a:r>
              <a:rPr sz="1200" dirty="0"/>
              <a:t>Ethical Governance Framework, Clinical Boundaries &amp; Transparent Limitations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29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87477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rPr dirty="0"/>
              <a:t>OMNI_BIOTECH_9 • HOSPITAL-ACQUIRED INFECTIONS  |  </a:t>
            </a:r>
            <a:r>
              <a:rPr dirty="0" smtClean="0"/>
              <a:t>100</a:t>
            </a:r>
            <a:r>
              <a:rPr dirty="0"/>
              <a:t>% AIR-GAPPED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539496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52670"/>
            <a:ext cx="5120640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38BDF8"/>
                </a:solidFill>
              </a:defRPr>
            </a:pPr>
            <a:r>
              <a:rPr sz="1600" dirty="0"/>
              <a:t>Ethical Principles &amp; </a:t>
            </a:r>
            <a:r>
              <a:rPr sz="1600" dirty="0" smtClean="0"/>
              <a:t>Safeguards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eriod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Clinical Decision Support Only: Assists infection </a:t>
            </a:r>
            <a:r>
              <a:rPr sz="1200" dirty="0" err="1" smtClean="0"/>
              <a:t>preventionists</a:t>
            </a:r>
            <a:r>
              <a:rPr sz="1200" dirty="0" smtClean="0"/>
              <a:t> in prioritizing attention; DOES NOT replace medical professionals.</a:t>
            </a:r>
            <a:endParaRPr lang="en-IN" sz="1200" dirty="0" smtClean="0"/>
          </a:p>
          <a:p>
            <a:pPr marL="228600" indent="-228600">
              <a:spcAft>
                <a:spcPts val="300"/>
              </a:spcAft>
              <a:buFont typeface="+mj-lt"/>
              <a:buAutoNum type="arabicPeriod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No </a:t>
            </a:r>
            <a:r>
              <a:rPr sz="1200" dirty="0"/>
              <a:t>Definitive Diagnosis Claim: Risk trajectory is an early-warning signal, not a microbiological culture </a:t>
            </a:r>
            <a:r>
              <a:rPr sz="1200" dirty="0" smtClean="0"/>
              <a:t>confirmation.</a:t>
            </a:r>
            <a:endParaRPr lang="en-IN" sz="1200" dirty="0" smtClean="0"/>
          </a:p>
          <a:p>
            <a:pPr marL="228600" indent="-228600">
              <a:spcAft>
                <a:spcPts val="300"/>
              </a:spcAft>
              <a:buFont typeface="+mj-lt"/>
              <a:buAutoNum type="arabicPeriod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Non-Causal </a:t>
            </a:r>
            <a:r>
              <a:rPr sz="1200" dirty="0"/>
              <a:t>Scenario Framing: What-If simulator is explicitly labeled: 'MODEL-BASED SIMULATION — NOT A CAUSAL PREDICTION</a:t>
            </a:r>
            <a:r>
              <a:rPr sz="1200" dirty="0" smtClean="0"/>
              <a:t>.'</a:t>
            </a:r>
            <a:endParaRPr lang="en-IN" sz="1200" dirty="0" smtClean="0"/>
          </a:p>
          <a:p>
            <a:pPr marL="228600" indent="-228600">
              <a:spcAft>
                <a:spcPts val="300"/>
              </a:spcAft>
              <a:buFont typeface="+mj-lt"/>
              <a:buAutoNum type="arabicPeriod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Zero-PHI </a:t>
            </a:r>
            <a:r>
              <a:rPr sz="1200" dirty="0"/>
              <a:t>Privacy: 250 synthetic de-identified profiles; 0% real patient data (HIPAA compliant</a:t>
            </a:r>
            <a:r>
              <a:rPr sz="1200" dirty="0" smtClean="0"/>
              <a:t>).</a:t>
            </a:r>
            <a:endParaRPr lang="en-IN" sz="1200" dirty="0" smtClean="0"/>
          </a:p>
          <a:p>
            <a:pPr marL="228600" indent="-228600">
              <a:spcAft>
                <a:spcPts val="300"/>
              </a:spcAft>
              <a:buFont typeface="+mj-lt"/>
              <a:buAutoNum type="arabicPeriod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Cryptographic </a:t>
            </a:r>
            <a:r>
              <a:rPr sz="1200" dirty="0"/>
              <a:t>Auditability: Immutable audit ledger logging all inferences and reviews.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539496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661548"/>
            <a:ext cx="512064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F59E0B"/>
                </a:solidFill>
              </a:defRPr>
            </a:pPr>
            <a:r>
              <a:rPr sz="1600" dirty="0"/>
              <a:t>Transparent Project Limitations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Requires </a:t>
            </a:r>
            <a:r>
              <a:rPr sz="1200" dirty="0"/>
              <a:t>Prospective Multicenter Validation: Evaluated on synthetic/de-identified cohort; real-world clinical validation is required before bedside </a:t>
            </a:r>
            <a:r>
              <a:rPr sz="1200" dirty="0" smtClean="0"/>
              <a:t>deployment.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Institutional </a:t>
            </a:r>
            <a:r>
              <a:rPr sz="1200" dirty="0"/>
              <a:t>EHR Integration: Real-time clinical deployment requires HL7/FHIR connector pipelines with hospital EHR systems (Epic, Cerner</a:t>
            </a:r>
            <a:r>
              <a:rPr sz="1200" dirty="0" smtClean="0"/>
              <a:t>).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Clinical </a:t>
            </a:r>
            <a:r>
              <a:rPr sz="1200" dirty="0"/>
              <a:t>Discretion Mandatory: Model predictions represent statistical risk and must always be evaluated in context by attending physicians and IPC nurses.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03520"/>
            <a:ext cx="1127729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5413248"/>
            <a:ext cx="110029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rPr sz="1200" b="1" dirty="0"/>
              <a:t>CLINICAL RESPONSIBILITY: </a:t>
            </a:r>
            <a:r>
              <a:rPr sz="1200" dirty="0"/>
              <a:t>Transparent disclosure of limitations and non-causal boundaries ensures HAI-Sentinel maintains scientific credibility and clinical trustworthiness.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463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HAI-SENTINEL | Explainable AI Prevention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57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</a:defRPr>
            </a:pPr>
            <a:r>
              <a:t>PREDICT -&gt; EXPLAIN -&gt; TRACK -&gt; PRIORITIZE -&gt; PREVENT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 smtClean="0"/>
              <a:t>From </a:t>
            </a:r>
            <a:r>
              <a:rPr dirty="0"/>
              <a:t>offline prototype to clinically validated prevention intelligence</a:t>
            </a:r>
            <a:r>
              <a:rPr dirty="0" smtClean="0"/>
              <a:t>.</a:t>
            </a:r>
            <a:endParaRPr dirty="0"/>
          </a:p>
          <a:p>
            <a:pPr>
              <a:defRPr sz="1100">
                <a:solidFill>
                  <a:srgbClr val="38BDF8"/>
                </a:solidFill>
              </a:defRPr>
            </a:pPr>
            <a:r>
              <a:rPr sz="1200" dirty="0"/>
              <a:t>Four-Stage Translation Roadmap &amp; Final Value Proposition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29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924472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rPr dirty="0"/>
              <a:t>OMNI_BIOTECH_9 • HOSPITAL-ACQUIRED INFECTIONS  |  </a:t>
            </a:r>
            <a:r>
              <a:rPr dirty="0" smtClean="0"/>
              <a:t>100</a:t>
            </a:r>
            <a:r>
              <a:rPr dirty="0"/>
              <a:t>% AIR-GAPPED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269748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572768"/>
            <a:ext cx="2423160" cy="137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38BDF8"/>
                </a:solidFill>
              </a:defRPr>
            </a:pPr>
            <a:r>
              <a:rPr sz="1600" dirty="0"/>
              <a:t>STAGE 1: NOW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Offline </a:t>
            </a:r>
            <a:r>
              <a:rPr sz="1200" dirty="0"/>
              <a:t>Command </a:t>
            </a:r>
            <a:r>
              <a:rPr sz="1200" dirty="0" smtClean="0"/>
              <a:t>Center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Calibrated </a:t>
            </a:r>
            <a:r>
              <a:rPr sz="1200" dirty="0" err="1"/>
              <a:t>XGBoost</a:t>
            </a:r>
            <a:r>
              <a:rPr sz="1200" dirty="0"/>
              <a:t> engine, deterministic 90s demo, trajectory &amp; SHAP visualizer, 100% air-gapped.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463040"/>
            <a:ext cx="269748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1572768"/>
            <a:ext cx="2423160" cy="137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0B981"/>
                </a:solidFill>
              </a:defRPr>
            </a:pPr>
            <a:r>
              <a:rPr sz="1600" dirty="0"/>
              <a:t>STAGE 2: NEXT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Silent Validation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Real-world </a:t>
            </a:r>
            <a:r>
              <a:rPr sz="1200" dirty="0"/>
              <a:t>EHR shadow testing, zero clinical disruption, model drift monitoring, false alarm profiling.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463040"/>
            <a:ext cx="269748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572768"/>
            <a:ext cx="2423160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A855F7"/>
                </a:solidFill>
              </a:defRPr>
            </a:pPr>
            <a:r>
              <a:rPr sz="1600" dirty="0"/>
              <a:t>STAGE 3: INTEGRATION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EHR Connectivity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HL7 </a:t>
            </a:r>
            <a:r>
              <a:rPr sz="1200" dirty="0"/>
              <a:t>/ FHIR connector pipeline, Epic / Cerner integration, bedside tablet rounding app.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463040"/>
            <a:ext cx="269748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98280" y="1572768"/>
            <a:ext cx="2423160" cy="137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F43F5E"/>
                </a:solidFill>
              </a:defRPr>
            </a:pPr>
            <a:r>
              <a:rPr sz="1600" dirty="0"/>
              <a:t>STAGE 4: SCALE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Multicenter Trial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Randomized </a:t>
            </a:r>
            <a:r>
              <a:rPr sz="1200" dirty="0"/>
              <a:t>controlled trial, measure CLABSI/CAUTI rate drops, ICU length of stay reduction.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168222"/>
            <a:ext cx="110029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38BDF8"/>
                </a:solidFill>
              </a:defRPr>
            </a:pPr>
            <a:r>
              <a:rPr sz="1400" dirty="0"/>
              <a:t>WHY HAI-SENTINEL MATTERS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HAI-Sentinel </a:t>
            </a:r>
            <a:r>
              <a:rPr sz="1200" dirty="0"/>
              <a:t>does not wait for the final microbiological confirmation after septic cascades have </a:t>
            </a:r>
            <a:r>
              <a:rPr sz="1200" dirty="0" smtClean="0"/>
              <a:t>started.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It </a:t>
            </a:r>
            <a:r>
              <a:rPr sz="1200" dirty="0"/>
              <a:t>continuously asks: What is changing? Why is risk rising? Where is risk concentrating? Who needs attention </a:t>
            </a:r>
            <a:r>
              <a:rPr sz="1200" dirty="0" smtClean="0"/>
              <a:t>next?</a:t>
            </a:r>
            <a:endParaRPr lang="en-IN" sz="1200" dirty="0" smtClean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950">
                <a:solidFill>
                  <a:srgbClr val="E2E8F0"/>
                </a:solidFill>
              </a:defRPr>
            </a:pPr>
            <a:r>
              <a:rPr sz="1200" dirty="0" smtClean="0"/>
              <a:t>PREDICT  </a:t>
            </a:r>
            <a:r>
              <a:rPr sz="1200" dirty="0"/>
              <a:t>-&gt;  EXPLAIN  -&gt;  TRACK  -&gt;  PRIORITIZE  -&gt;  PREVENT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4632"/>
            <a:ext cx="12191695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HAI-SENTINEL | Explainable AI Prevention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57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</a:defRPr>
            </a:pPr>
            <a:r>
              <a:t>PREDICT -&gt; EXPLAIN -&gt; TRACK -&gt; PRIORITIZE -&gt; PREVENT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3896"/>
            <a:ext cx="1127729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IN" sz="8000" dirty="0" smtClean="0"/>
              <a:t>Thank You</a:t>
            </a:r>
            <a:endParaRPr sz="6000" dirty="0"/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29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924472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rPr dirty="0"/>
              <a:t>OMNI_BIOTECH_9 • HOSPITAL-ACQUIRED INFECTIONS  |  </a:t>
            </a:r>
            <a:r>
              <a:rPr dirty="0" smtClean="0"/>
              <a:t>100</a:t>
            </a:r>
            <a:r>
              <a:rPr dirty="0"/>
              <a:t>% AIR-GAPPED READY</a:t>
            </a:r>
          </a:p>
        </p:txBody>
      </p:sp>
    </p:spTree>
    <p:extLst>
      <p:ext uri="{BB962C8B-B14F-4D97-AF65-F5344CB8AC3E}">
        <p14:creationId xmlns:p14="http://schemas.microsoft.com/office/powerpoint/2010/main" val="3848088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4171</Words>
  <Application>Microsoft Office PowerPoint</Application>
  <PresentationFormat>Widescreen</PresentationFormat>
  <Paragraphs>366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SIVANESH</cp:lastModifiedBy>
  <cp:revision>14</cp:revision>
  <dcterms:created xsi:type="dcterms:W3CDTF">2013-01-27T09:14:16Z</dcterms:created>
  <dcterms:modified xsi:type="dcterms:W3CDTF">2026-08-22T07:10:54Z</dcterms:modified>
  <cp:category/>
</cp:coreProperties>
</file>